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1b5c58a3eb4ee4" /><Relationship Type="http://schemas.openxmlformats.org/officeDocument/2006/relationships/extended-properties" Target="/docProps/app.xml" Id="R036141d5ac704a6a" /><Relationship Type="http://schemas.openxmlformats.org/officeDocument/2006/relationships/officeDocument" Target="/ppt/presentation.xml" Id="R5d0ab3ce7d2342c4" /></Relationships>
</file>

<file path=ppt/presentation.xml><?xml version="1.0" encoding="utf-8"?>
<p:presentation xmlns:p="http://schemas.openxmlformats.org/presentationml/2006/main">
  <p:sldMasterIdLst>
    <p:sldMasterId xmlns:r="http://schemas.openxmlformats.org/officeDocument/2006/relationships" id="2147483648" r:id="Rc8976f56d44e44e9"/>
  </p:sldMasterIdLst>
  <p:notesMasterIdLst>
    <p:notesMasterId xmlns:r="http://schemas.openxmlformats.org/officeDocument/2006/relationships" r:id="R5713cac5e75044af"/>
  </p:notesMasterIdLst>
  <p:sldIdLst>
    <p:sldId xmlns:r="http://schemas.openxmlformats.org/officeDocument/2006/relationships" id="256" r:id="Rf28b2d7e585143b5"/>
    <p:sldId xmlns:r="http://schemas.openxmlformats.org/officeDocument/2006/relationships" id="257" r:id="R9985d65df2fe45e2"/>
    <p:sldId xmlns:r="http://schemas.openxmlformats.org/officeDocument/2006/relationships" id="258" r:id="R6cca66b925404a86"/>
    <p:sldId xmlns:r="http://schemas.openxmlformats.org/officeDocument/2006/relationships" id="259" r:id="Ra8e0e78f31aa407a"/>
    <p:sldId xmlns:r="http://schemas.openxmlformats.org/officeDocument/2006/relationships" id="260" r:id="R951da4bcdded48e6"/>
    <p:sldId xmlns:r="http://schemas.openxmlformats.org/officeDocument/2006/relationships" id="261" r:id="Rfb4ef0ae510f47cc"/>
    <p:sldId xmlns:r="http://schemas.openxmlformats.org/officeDocument/2006/relationships" id="262" r:id="R9f0dd79c3aad446c"/>
    <p:sldId xmlns:r="http://schemas.openxmlformats.org/officeDocument/2006/relationships" id="263" r:id="R61c641d2a9aa4167"/>
    <p:sldId xmlns:r="http://schemas.openxmlformats.org/officeDocument/2006/relationships" id="264" r:id="Rcf6634c4a2944c31"/>
    <p:sldId xmlns:r="http://schemas.openxmlformats.org/officeDocument/2006/relationships" id="265" r:id="R18292e01ed6b4359"/>
    <p:sldId xmlns:r="http://schemas.openxmlformats.org/officeDocument/2006/relationships" id="266" r:id="Rf7c9161091304dfb"/>
    <p:sldId xmlns:r="http://schemas.openxmlformats.org/officeDocument/2006/relationships" id="267" r:id="Rb6357267bc4d42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1f18349ddd4d79" /><Relationship Type="http://schemas.openxmlformats.org/officeDocument/2006/relationships/slideMaster" Target="/ppt/slideMasters/slideMaster1.xml" Id="Rc8976f56d44e44e9" /><Relationship Type="http://schemas.openxmlformats.org/officeDocument/2006/relationships/notesMaster" Target="/ppt/notesMasters/notesMaster1.xml" Id="R5713cac5e75044af" /><Relationship Type="http://schemas.openxmlformats.org/officeDocument/2006/relationships/presProps" Target="/ppt/presProps.xml" Id="R280664125074480f" /><Relationship Type="http://schemas.openxmlformats.org/officeDocument/2006/relationships/tableStyles" Target="/ppt/tableStyles.xml" Id="Re424adf2480748e4" /><Relationship Type="http://schemas.openxmlformats.org/officeDocument/2006/relationships/slide" Target="/ppt/slides/slide1.xml" Id="Rf28b2d7e585143b5" /><Relationship Type="http://schemas.openxmlformats.org/officeDocument/2006/relationships/slide" Target="/ppt/slides/slide2.xml" Id="R9985d65df2fe45e2" /><Relationship Type="http://schemas.openxmlformats.org/officeDocument/2006/relationships/slide" Target="/ppt/slides/slide3.xml" Id="R6cca66b925404a86" /><Relationship Type="http://schemas.openxmlformats.org/officeDocument/2006/relationships/slide" Target="/ppt/slides/slide4.xml" Id="Ra8e0e78f31aa407a" /><Relationship Type="http://schemas.openxmlformats.org/officeDocument/2006/relationships/slide" Target="/ppt/slides/slide5.xml" Id="R951da4bcdded48e6" /><Relationship Type="http://schemas.openxmlformats.org/officeDocument/2006/relationships/slide" Target="/ppt/slides/slide6.xml" Id="Rfb4ef0ae510f47cc" /><Relationship Type="http://schemas.openxmlformats.org/officeDocument/2006/relationships/slide" Target="/ppt/slides/slide7.xml" Id="R9f0dd79c3aad446c" /><Relationship Type="http://schemas.openxmlformats.org/officeDocument/2006/relationships/slide" Target="/ppt/slides/slide8.xml" Id="R61c641d2a9aa4167" /><Relationship Type="http://schemas.openxmlformats.org/officeDocument/2006/relationships/slide" Target="/ppt/slides/slide9.xml" Id="Rcf6634c4a2944c31" /><Relationship Type="http://schemas.openxmlformats.org/officeDocument/2006/relationships/slide" Target="/ppt/slides/slide10.xml" Id="R18292e01ed6b4359" /><Relationship Type="http://schemas.openxmlformats.org/officeDocument/2006/relationships/slide" Target="/ppt/slides/slide11.xml" Id="Rf7c9161091304dfb" /><Relationship Type="http://schemas.openxmlformats.org/officeDocument/2006/relationships/slide" Target="/ppt/slides/slide12.xml" Id="Rb6357267bc4d42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c0e16a38684f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HRScreening">
  <a:themeElements>
    <a:clrScheme name="HRScreening">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RScreening">
      <a:majorFont>
        <a:latin typeface="Aptos"/>
        <a:ea typeface=""/>
        <a:cs typeface=""/>
      </a:majorFont>
      <a:minorFont>
        <a:latin typeface="Aptos"/>
        <a:ea typeface=""/>
        <a:cs typeface=""/>
      </a:minorFont>
    </a:fontScheme>
    <a:fmtScheme name="HRScree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53977daaca4260" /><Relationship Type="http://schemas.openxmlformats.org/officeDocument/2006/relationships/notesMaster" Target="/ppt/notesMasters/notesMaster1.xml" Id="R0bc47de0d5464c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cf968b5eb4ad8" /><Relationship Type="http://schemas.openxmlformats.org/officeDocument/2006/relationships/notesMaster" Target="/ppt/notesMasters/notesMaster1.xml" Id="R3a3839b135484f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3e90c15d734c7a" /><Relationship Type="http://schemas.openxmlformats.org/officeDocument/2006/relationships/notesMaster" Target="/ppt/notesMasters/notesMaster1.xml" Id="Rf5345c38bb2446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8cc19cbd174efc" /><Relationship Type="http://schemas.openxmlformats.org/officeDocument/2006/relationships/notesMaster" Target="/ppt/notesMasters/notesMaster1.xml" Id="R7c562822e6e845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e6c98854104467" /><Relationship Type="http://schemas.openxmlformats.org/officeDocument/2006/relationships/notesMaster" Target="/ppt/notesMasters/notesMaster1.xml" Id="R8f43b9b9d6d947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5c560859bd4f81" /><Relationship Type="http://schemas.openxmlformats.org/officeDocument/2006/relationships/notesMaster" Target="/ppt/notesMasters/notesMaster1.xml" Id="R1c57cf1fde1743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3c70102af14b6c" /><Relationship Type="http://schemas.openxmlformats.org/officeDocument/2006/relationships/notesMaster" Target="/ppt/notesMasters/notesMaster1.xml" Id="Rddb1fae7551849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e261e973464323" /><Relationship Type="http://schemas.openxmlformats.org/officeDocument/2006/relationships/notesMaster" Target="/ppt/notesMasters/notesMaster1.xml" Id="R6ad374ceb27846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6e074bd0844d4a" /><Relationship Type="http://schemas.openxmlformats.org/officeDocument/2006/relationships/notesMaster" Target="/ppt/notesMasters/notesMaster1.xml" Id="R5190a930c1664c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1ba6f611dd4265" /><Relationship Type="http://schemas.openxmlformats.org/officeDocument/2006/relationships/notesMaster" Target="/ppt/notesMasters/notesMaster1.xml" Id="Rd042af32da0040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35028aed3c45dd" /><Relationship Type="http://schemas.openxmlformats.org/officeDocument/2006/relationships/notesMaster" Target="/ppt/notesMasters/notesMaster1.xml" Id="R93fa5c2fc5244e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8cc07398f24211" /><Relationship Type="http://schemas.openxmlformats.org/officeDocument/2006/relationships/notesMaster" Target="/ppt/notesMasters/notesMaster1.xml" Id="Rc0cfa50f265446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 выбрали кадровое агентство из исходного задания. Для него первичный разбор кандидатов занимает много ручного времени: рекрутер переводит описание вакансии в требования, ищет профили, сравнивает опыт и готовит короткий список. В учебном профиле 120 рекрутеров, 2 000 активных вакансий и 350 тысяч резюме. Наша задача состоит в том, чтобы собрать этот повторяемый путь в управляемую систему. На выходе рекрутер получает список с основаниями и вопросами к интервью. Он проверяет результат и утверждает его. Система не принимает решение о найме, не отказывает кандидатам и не рассылает письма. Все рабочие модели и вычисления находятся внутри локального контура. В демонстрации используются синтетические записи, поэтому масштаб заказчика и размер проверенного набора мы будем различать.</a:t>
            </a:r>
          </a:p>
          <a:p xmlns:a="http://schemas.openxmlformats.org/drawingml/2006/main">
            <a:r>
              <a:t/>
            </a:r>
          </a:p>
          <a:p xmlns:a="http://schemas.openxmlformats.org/drawingml/2006/main">
            <a:r>
              <a:t>Источник: Исходное задание, с.2, 5-6; docs/customer.md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Рекрутер начинает с новой вакансии и указывает обязательные и желательные навыки, минимальный опыт и размер короткого списка. Приложение выбирает только те резюме, которые доступны этому сотруднику в его проекте. Затем движок сопоставляет подтверждённые навыки, отмечает отсутствие сведений, дубли и противоречия. На стадии проверки человек открывает цитаты и решает, кого включить в утверждённый список. За каждым этапом стоят вход, результат, лимит и запись состояния. Бизнес-эффект мы предлагаем оценивать по времени первичного разбора, минутам ручной работы, релевантности short-list, проверяемости оснований и соблюдению SLA. Пока нет независимого замера процесса агентства, мы не заявляем процент экономии. Ускорение модели и экономия рабочего времени являются разными показателями.</a:t>
            </a:r>
          </a:p>
          <a:p xmlns:a="http://schemas.openxmlformats.org/drawingml/2006/main">
            <a:r>
              <a:t/>
            </a:r>
          </a:p>
          <a:p xmlns:a="http://schemas.openxmlformats.org/drawingml/2006/main">
            <a:r>
              <a:t>Источник: docs/report.md, §3,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проверяет личность, роль и проект прежде, чем задача получит данные. Рекрутер загружает PDF с текстовым слоем. documents.py извлекает его отдельно, с чистым окружением, лимитами времени и памяти. Допускаются два разбора одновременно, сканы и зашифрованные документы получают понятный отказ. Оригинал хранится отдельным вложением в SQLite и входит в backup. Для модели используется разрешённый текст. Веса локальны, публичный AI при обработке не нужен. Запрет исходящего трафика требует инфраструктурной проверки, а процесс с лимитами не считается полной OS-песочницей. OCR и произвольные офисные форматы остаются развитием. Настоящая ATS подключается отдельным адаптером с конкретными разрешёнными операциями, а не общим доступом ко всем данным.</a:t>
            </a:r>
          </a:p>
          <a:p xmlns:a="http://schemas.openxmlformats.org/drawingml/2006/main">
            <a:r>
              <a:t/>
            </a:r>
          </a:p>
          <a:p xmlns:a="http://schemas.openxmlformats.org/drawingml/2006/main">
            <a:r>
              <a:t>Источник: hr_screening/documents.py; docs/report.md, §5, 10,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проверяет роль и проект. ScreeningService управляет очередью, квотами, отменой и checkpoints. API и оркестратор живут в одном процессе, а compute.py запускает тяжёлое сравнение отдельно через spawn. GPU использует один процесс с MiniLM и последовательной Qwen3, baseline до четырёх CPU-процессов. До двенадцати оркестраторов ждут их результаты. documents.py разбирает PDF отдельным ограниченным subprocess. Store сохраняет текст, оригинальное вложение и снимки задач в SQLite WAL. Engine извлекает признаки и цитаты, semantic добавляет близость, llm готовит непроверенные подсказки. В браузере доступны фильтры «Все», «На проверке», «Утверждены» и карточки кандидатов с цитатами и вопросами. Вложенная карточка источника возвращает фокус и прокрутку, а опрос статуса сохраняет выделение. Так пользователь продолжает проверку без потери места чтения.</a:t>
            </a:r>
          </a:p>
          <a:p xmlns:a="http://schemas.openxmlformats.org/drawingml/2006/main">
            <a:r>
              <a:t/>
            </a:r>
          </a:p>
          <a:p xmlns:a="http://schemas.openxmlformats.org/drawingml/2006/main">
            <a:r>
              <a:t>Источник: hr_screening/documents.py, api.py, service.py, compute.py, store.py; docs/report.md,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принятия запроса API возвращает идентификатор. Повтор с тем же ключом идемпотентности возвращает исходную операцию. Диспетчер запускает этап, а Store сохраняет checkpoint. Перезапуск продолжает работу с устойчивого этапа, но не выдаёт новый бюджет времени. max_seconds задаёт wall-clock deadline от первого старта, который включает паузу и время сбоя. Отмена кооперативная: API быстро меняет состояние и передаёт Manager.Event в worker. LLM проверяет сигнал после токена, базовый путь между этапами. Уже запущенный вызов может добежать. Генерация ограничена бюджетом до 45 секунд. Оркестратор сверяет поколение задачи и игнорирует поздний ответ, поэтому он не перезапишет destroyed. Когда артефакт готов, задача ждёт рекрутера. Отдельный запрос approve сохраняет решение человека. Проверка восстановления сверяет checkpoint, исходный срок и историю действий.</a:t>
            </a:r>
          </a:p>
          <a:p xmlns:a="http://schemas.openxmlformats.org/drawingml/2006/main">
            <a:r>
              <a:t/>
            </a:r>
          </a:p>
          <a:p xmlns:a="http://schemas.openxmlformats.org/drawingml/2006/main">
            <a:r>
              <a:t>Источник: docs/report.md, §7-8,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карточке мы разделяем совпавшие навыки, отсутствующие сведения и сомнения. Положительный факт сопровождается короткой цитатой и идентификатором резюме. Пример на слайде синтетический и показывает формат объяснения. Если кандидат пишет, что не работал с Kubernetes, простое наличие слова не должно подтверждать навык. Семантическая близость помогает учитывать формулировки, но не заменяет доказательство. Дубли и противоречия выносятся отдельными предупреждениями. Генеративная модель получает компактные подтверждённые факты и предлагает краткое описание либо вопрос. Эти подсказки помечены как непроверенные. Она не меняет порядок по собственному решению и не получает возможности вызвать инструмент. Приложение проверяет JSON, размеры полей и ID, но не смысл каждого утверждения. Содержание проверяет рекрутер даже при формально корректном ответе.</a:t>
            </a:r>
          </a:p>
          <a:p xmlns:a="http://schemas.openxmlformats.org/drawingml/2006/main">
            <a:r>
              <a:t/>
            </a:r>
          </a:p>
          <a:p xmlns:a="http://schemas.openxmlformats.org/drawingml/2006/main">
            <a:r>
              <a:t>Источник: docs/report.md, §4, 11; hr_screening/engine.py, 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Qwen3-4B FP16 запущена на RX 6900 XT через ROCm с eager attention. В двух синтетических запусках вход содержал 230 токенов, ответ 111. Время составило 9,761 и 10,363 секунды. Оба ответа прошли проверку JSON, рейтинг и цитаты сохранились. Это не доказывает фактическую правильность подсказок. Загрузка заняла 7,902 секунды. Peak allocated составил 7,63 GiB, reserved 7,67 GiB. Замер относится к короткому запросу. Максимальный контекст равен 3 712 входным плюс 384 выходным токенам. Расчётная верхняя оценка KV-кэша на 4 096 токенов составляет 576 MiB. Остаток памяти нужен для длинного контекста, MiniLM и буферов. Дополнительные слоты без нового замера не обещаются. Генерация работает последовательно, а двадцать активных задач могут ждать.</a:t>
            </a:r>
          </a:p>
          <a:p xmlns:a="http://schemas.openxmlformats.org/drawingml/2006/main">
            <a:r>
              <a:t/>
            </a:r>
          </a:p>
          <a:p xmlns:a="http://schemas.openxmlformats.org/drawingml/2006/main">
            <a:r>
              <a:t>Источник: evidence/experiment_llm.json; https://huggingface.co/Qwen/Qwen3-4B-Instruct-2507/raw/main/config.json; docs/report.md, §11-13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Права проверяются по роли и области клиента и проекта. Рекрутер ведёт свой проект и утверждает результаты. Клиент видит только утверждённый список своего проекта. Аудитор читает метаданные событий, а администратор наблюдает состояние и останавливает задачи. Ни одна из последних ролей автоматически не открывает полные резюме. API получает область доступа из сессии, а не доверяет идентификатору клиента в теле запроса. Проверка действует на чтении, изменении, запуске и экспорте. Поэтому подмена чужого идентификатора должна закончиться отказом без раскрытия содержания объекта. Запрещённая попытка оставляет событие. Модель не получает производственные пароли. Для реальной ATS предусматриваются отдельная сервисная идентичность и ограниченный набор операций. Такое ограничение сохраняется независимо от текста модели.</a:t>
            </a:r>
          </a:p>
          <a:p xmlns:a="http://schemas.openxmlformats.org/drawingml/2006/main">
            <a:r>
              <a:t/>
            </a:r>
          </a:p>
          <a:p xmlns:a="http://schemas.openxmlformats.org/drawingml/2006/main">
            <a:r>
              <a:t>Источник: docs/report.md, §9-10,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Система хранит состояние в SQLite WAL и фиксирует устойчивые точки после этапов. Сбой worker оставляет диагностируемую задачу, которую можно продолжить с сохранённого этапа. При отмене поздний результат не должен изменить destroyed. Deadline от первого старта включает паузу и сбой. Manager.Event передаёт сигнал в worker, LLM проверяет его после токена. Квоты ограничивают число кандидатов и обращения к инструментам. При неудачной генерации сохраняются подтверждённые результаты, а текстовая подсказка получает отдельный статус. Аудит использует цепочку хэшей, которая выявляет изменение событий. Она не защищает от администратора, переписавшего всю базу, поэтому для промышленного контура нужен внешний якорь. Резервную копию восстанавливают на отдельном пути и проверяют до переключения. RPO в сутки и RTO в час являются проектными целями, фактическое время следует смотреть в протоколе восстановления.</a:t>
            </a:r>
          </a:p>
          <a:p xmlns:a="http://schemas.openxmlformats.org/drawingml/2006/main">
            <a:r>
              <a:t/>
            </a:r>
          </a:p>
          <a:p xmlns:a="http://schemas.openxmlformats.org/drawingml/2006/main">
            <a:r>
              <a:t>Источник: docs/report.md, §15-17; evidence/recovery.json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Исходный тяжёлый профиль дал p95 API 793,9 миллисекунды. Python-сравнение конкурировало с API за GIL. После отделения вычислений финальный p95 составил 16,43, 134,40, 179,33 миллисекунды для трёх профилей. Ошибок нет, наблюдались 20 активных исполнителей. Все 96 тестов pytest прошли за 18,17 секунды. На каждый нагрузочный профиль приходится от 201 до 212 запросов. Это короткий baseline-стенд, не промышленный SLA и не конкурентная генерация. Отдельный PDF-эксперимент успешно извлёк 32 файлов. В трёх контрольных short-list баллы, навыки и стаж сохранились, цитаты дословны. Он не подменяет отдельную проверку MiniLM и Qwen на PDF-входе.</a:t>
            </a:r>
          </a:p>
          <a:p xmlns:a="http://schemas.openxmlformats.org/drawingml/2006/main">
            <a:r>
              <a:t/>
            </a:r>
          </a:p>
          <a:p xmlns:a="http://schemas.openxmlformats.org/drawingml/2006/main">
            <a:r>
              <a:t>Источник: evidence/load_initial.json; evidence/load_test.json; evidence/test_results.json; evidence/experiment_pdf.json; docs/measurements.md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Рост начинается с измеренного узкого места. Состояние переносится в PostgreSQL, задачи в устойчивую очередь, API масштабируется отдельно. По двум GPU-запускам получается примерно одна короткая генерация за десять секунд, то есть 0,10 в секунду для подсказки по двум кандидатам. Пять тысяч операций дня нельзя считать пятью тысячами генераций. При доле LLM десять процентов 500 вызовов требуют около 1,4 GPU-часа. Если генерация нужна во всех операциях, пять тысяч вызовов займут около 14 GPU-часов. Два аналогичных GPU дают расчёт на восьмичасовой день, но пиковую очередь и смешанную нагрузку надо проверять отдельно. Условные бюджеты в таблице не являются коммерческими предложениями. Экономический эффект подтверждается временем рекрутера и качеством проверенного результата.</a:t>
            </a:r>
          </a:p>
          <a:p xmlns:a="http://schemas.openxmlformats.org/drawingml/2006/main">
            <a:r>
              <a:t/>
            </a:r>
          </a:p>
          <a:p xmlns:a="http://schemas.openxmlformats.org/drawingml/2006/main">
            <a:r>
              <a:t>Источник: evidence/experiment_llm.json; docs/report.md, §13, 18; все рублёвые суммы являются проектными допущениями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Первое GPU-задание после рестарта дошло до waiting за 20,611 секунды. Вычислитель был холодным. Заданию доступны 11 PDF-резюме, оба модельных этапа работали на GPU. Получены 8 карточек с вопросами и 2 непроверенные подсказки. PDF уже разобраны командой seed до этого таймера. Это не измерение upload и parse. Исторические 9,486 секунды прогретого текстового запуска хранятся отдельно. В браузере покажем загрузку PDF, источник конкретной задачи, утверждение и выгрузку CSV. Клиент получает только утверждённое. OCR, произвольные офисные форматы, полная OS-песочница и настоящая ATS остаются развитием. Реальное исчерпание памяти не воспроизводили. Рекрутер сохраняет ответственность за проверку подсказок и решение.</a:t>
            </a:r>
          </a:p>
          <a:p xmlns:a="http://schemas.openxmlformats.org/drawingml/2006/main">
            <a:r>
              <a:t/>
            </a:r>
          </a:p>
          <a:p xmlns:a="http://schemas.openxmlformats.org/drawingml/2006/main">
            <a:r>
              <a:t>Источник: evidence/end_to_end_pdf_gpu.json; evidence/end_to_end_gpu.json; docs/report.md, §19-20; docs/requirements.md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f7587a606545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586d0b809640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0284d0e91d4d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36bedf669044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2f3e0b083246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cb25bc671749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3DDAEE-D544-4912-8EF4-9CCFBC1C68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9334D65-2C05-4094-9FA5-61B9AF46D5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2F747A-547D-44CB-90A8-9235F58193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62340D-AF94-4B52-B9B0-627D6C8B57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DEABDA-1E1E-4BCC-9F58-C1EB336A17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DA90FE9-8B76-40DF-B5A9-35D09D447B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8BB195-5480-4E3B-B49F-3AA0854472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299DE7-443E-4D44-BD54-9035BDB9D7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999C79-9C85-4252-9383-3768E02687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036EFF-66F5-4237-985D-2AC209C45D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043d0e16854b45" /><Relationship Type="http://schemas.openxmlformats.org/officeDocument/2006/relationships/slideLayout" Target="/ppt/slideLayouts/slideLayout1.xml" Id="R24b5d32d994e424e" /><Relationship Type="http://schemas.openxmlformats.org/officeDocument/2006/relationships/slideLayout" Target="/ppt/slideLayouts/slideLayout2.xml" Id="Rcf8f9061588a45b7" /><Relationship Type="http://schemas.openxmlformats.org/officeDocument/2006/relationships/slideLayout" Target="/ppt/slideLayouts/slideLayout3.xml" Id="Ra625e9312d1541d0" /><Relationship Type="http://schemas.openxmlformats.org/officeDocument/2006/relationships/slideLayout" Target="/ppt/slideLayouts/slideLayout4.xml" Id="R720c4ebe0aad4574" /><Relationship Type="http://schemas.openxmlformats.org/officeDocument/2006/relationships/slideLayout" Target="/ppt/slideLayouts/slideLayout5.xml" Id="R951e0273d06642fc" /><Relationship Type="http://schemas.openxmlformats.org/officeDocument/2006/relationships/slideLayout" Target="/ppt/slideLayouts/slideLayout6.xml" Id="R4f70504ac74c4a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b5d32d994e424e"/>
    <p:sldLayoutId xmlns:r="http://schemas.openxmlformats.org/officeDocument/2006/relationships" id="2147483650" r:id="Rcf8f9061588a45b7"/>
    <p:sldLayoutId xmlns:r="http://schemas.openxmlformats.org/officeDocument/2006/relationships" id="2147483651" r:id="Ra625e9312d1541d0"/>
    <p:sldLayoutId xmlns:r="http://schemas.openxmlformats.org/officeDocument/2006/relationships" id="2147483652" r:id="R720c4ebe0aad4574"/>
    <p:sldLayoutId xmlns:r="http://schemas.openxmlformats.org/officeDocument/2006/relationships" id="2147483653" r:id="R951e0273d06642fc"/>
    <p:sldLayoutId xmlns:r="http://schemas.openxmlformats.org/officeDocument/2006/relationships" id="2147483654" r:id="R4f70504ac74c4a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HRScreening">
  <a:themeElements>
    <a:clrScheme name="HRScreening">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RScreening">
      <a:majorFont>
        <a:latin typeface="Aptos"/>
        <a:ea typeface=""/>
        <a:cs typeface=""/>
      </a:majorFont>
      <a:minorFont>
        <a:latin typeface="Aptos"/>
        <a:ea typeface=""/>
        <a:cs typeface=""/>
      </a:minorFont>
    </a:fontScheme>
    <a:fmtScheme name="HRScree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779a9fd2cd48b8" /><Relationship Type="http://schemas.openxmlformats.org/officeDocument/2006/relationships/notesSlide" Target="/ppt/notesSlides/notesSlide1.xml" Id="R10fe5f9429de40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1055ccb6df4a0a" /><Relationship Type="http://schemas.openxmlformats.org/officeDocument/2006/relationships/notesSlide" Target="/ppt/notesSlides/notesSlide2.xml" Id="Rd30a7d00e12c4d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aee20ba60f47ea" /><Relationship Type="http://schemas.openxmlformats.org/officeDocument/2006/relationships/notesSlide" Target="/ppt/notesSlides/notesSlide3.xml" Id="Rda3bcd785fc04f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6c8b6a9ad9b441b" /><Relationship Type="http://schemas.openxmlformats.org/officeDocument/2006/relationships/notesSlide" Target="/ppt/notesSlides/notesSlide4.xml" Id="Rf96a431358df43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22e7cd92564073" /><Relationship Type="http://schemas.openxmlformats.org/officeDocument/2006/relationships/notesSlide" Target="/ppt/notesSlides/notesSlide5.xml" Id="R8079690ffede49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b244182d914aae" /><Relationship Type="http://schemas.openxmlformats.org/officeDocument/2006/relationships/notesSlide" Target="/ppt/notesSlides/notesSlide6.xml" Id="Rc6abc63d91da40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6ff0e1979ee4af6" /><Relationship Type="http://schemas.openxmlformats.org/officeDocument/2006/relationships/notesSlide" Target="/ppt/notesSlides/notesSlide7.xml" Id="Rb20b776310114b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42d288ad8944290" /><Relationship Type="http://schemas.openxmlformats.org/officeDocument/2006/relationships/notesSlide" Target="/ppt/notesSlides/notesSlide8.xml" Id="R9170081c6fdd48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08c8fe35b248d9" /><Relationship Type="http://schemas.openxmlformats.org/officeDocument/2006/relationships/notesSlide" Target="/ppt/notesSlides/notesSlide9.xml" Id="R2a238c3494784f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cca109e64a45ef" /><Relationship Type="http://schemas.openxmlformats.org/officeDocument/2006/relationships/notesSlide" Target="/ppt/notesSlides/notesSlide10.xml" Id="R9f528322c4f047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151a30768e4ff0" /><Relationship Type="http://schemas.openxmlformats.org/officeDocument/2006/relationships/notesSlide" Target="/ppt/notesSlides/notesSlide11.xml" Id="R2e7f7f979f144c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53ae10656f74ea1" /><Relationship Type="http://schemas.openxmlformats.org/officeDocument/2006/relationships/notesSlide" Target="/ppt/notesSlides/notesSlide12.xml" Id="R264a9b2d0ba1409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DE3022-4096-49B0-BAEF-753CFD07A164}"/>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42B46"/>
                </a:solidFill>
                <a:latin typeface="DejaVu Sans"/>
                <a:ea typeface="DejaVu Sans"/>
                <a:cs typeface="DejaVu Sans"/>
              </a:defRPr>
            </a:defPPr>
          </a:lstStyle>
          <a:p xmlns:a="http://schemas.openxmlformats.org/drawingml/2006/main">
            <a:pPr algn="l">
              <a:defRPr sz="4200" b="1">
                <a:solidFill>
                  <a:srgbClr val="142B46"/>
                </a:solidFill>
                <a:latin typeface="DejaVu Sans"/>
                <a:ea typeface="DejaVu Sans"/>
                <a:cs typeface="DejaVu Sans"/>
              </a:defRPr>
            </a:pPr>
            <a:r>
              <a:rPr sz="4200" b="1">
                <a:solidFill>
                  <a:srgbClr val="142B46"/>
                </a:solidFill>
                <a:latin typeface="DejaVu Sans"/>
                <a:ea typeface="DejaVu Sans"/>
                <a:cs typeface="DejaVu Sans"/>
              </a:rPr>
              <a:t>Автоматический HR-скрининг</a:t>
            </a:r>
          </a:p>
        </p:txBody>
      </p:sp>
      <p:sp>
        <p:nvSpPr>
          <p:cNvPr id="2" name="">
            <a:extLst xmlns:a="http://schemas.openxmlformats.org/drawingml/2006/main">
              <a:ext uri="{FF2B5EF4-FFF2-40B4-BE49-F238E27FC236}">
                <a16:creationId xmlns:a16="http://schemas.microsoft.com/office/drawing/2014/main" id="{D78689AF-EBE3-4FEB-82A6-BCE2B862011C}"/>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3C8AC8BD-83AC-43B6-89D3-2090242F3D83}"/>
              </a:ext>
            </a:extLst>
          </p:cNvPr>
          <p:cNvSpPr>
            <a:spLocks xmlns:a="http://schemas.openxmlformats.org/drawingml/2006/main" noGrp="1"/>
          </p:cNvSpPr>
          <p:nvPr/>
        </p:nvSpPr>
        <p:spPr>
          <a:xfrm xmlns:a="http://schemas.openxmlformats.org/drawingml/2006/main">
            <a:off x="609600" y="13620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4F6173"/>
                </a:solidFill>
                <a:latin typeface="DejaVu Sans"/>
                <a:ea typeface="DejaVu Sans"/>
                <a:cs typeface="DejaVu Sans"/>
              </a:defRPr>
            </a:defPPr>
          </a:lstStyle>
          <a:p xmlns:a="http://schemas.openxmlformats.org/drawingml/2006/main">
            <a:pPr algn="l">
              <a:defRPr sz="2325" b="0">
                <a:solidFill>
                  <a:srgbClr val="4F6173"/>
                </a:solidFill>
                <a:latin typeface="DejaVu Sans"/>
                <a:ea typeface="DejaVu Sans"/>
                <a:cs typeface="DejaVu Sans"/>
              </a:defRPr>
            </a:pPr>
            <a:r>
              <a:rPr sz="2325" b="0">
                <a:solidFill>
                  <a:srgbClr val="4F6173"/>
                </a:solidFill>
                <a:latin typeface="DejaVu Sans"/>
                <a:ea typeface="DejaVu Sans"/>
                <a:cs typeface="DejaVu Sans"/>
              </a:rPr>
              <a:t>Кадровое агентство</a:t>
            </a:r>
          </a:p>
        </p:txBody>
      </p:sp>
      <p:sp>
        <p:nvSpPr>
          <p:cNvPr id="4" name="">
            <a:extLst xmlns:a="http://schemas.openxmlformats.org/drawingml/2006/main">
              <a:ext uri="{FF2B5EF4-FFF2-40B4-BE49-F238E27FC236}">
                <a16:creationId xmlns:a16="http://schemas.microsoft.com/office/drawing/2014/main" id="{B3B97160-AA14-4A1F-A6CE-2DA2DD6CFB76}"/>
              </a:ext>
            </a:extLst>
          </p:cNvPr>
          <p:cNvSpPr>
            <a:spLocks xmlns:a="http://schemas.openxmlformats.org/drawingml/2006/main" noGrp="1"/>
          </p:cNvSpPr>
          <p:nvPr/>
        </p:nvSpPr>
        <p:spPr>
          <a:xfrm xmlns:a="http://schemas.openxmlformats.org/drawingml/2006/main">
            <a:off x="609600" y="271462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464AB"/>
                </a:solidFill>
                <a:latin typeface="DejaVu Sans"/>
                <a:ea typeface="DejaVu Sans"/>
                <a:cs typeface="DejaVu Sans"/>
              </a:defRPr>
            </a:defPPr>
          </a:lstStyle>
          <a:p xmlns:a="http://schemas.openxmlformats.org/drawingml/2006/main">
            <a:pPr algn="l">
              <a:defRPr sz="5250" b="1">
                <a:solidFill>
                  <a:srgbClr val="2464AB"/>
                </a:solidFill>
                <a:latin typeface="DejaVu Sans"/>
                <a:ea typeface="DejaVu Sans"/>
                <a:cs typeface="DejaVu Sans"/>
              </a:defRPr>
            </a:pPr>
            <a:r>
              <a:rPr sz="5250" b="1">
                <a:solidFill>
                  <a:srgbClr val="2464AB"/>
                </a:solidFill>
                <a:latin typeface="DejaVu Sans"/>
                <a:ea typeface="DejaVu Sans"/>
                <a:cs typeface="DejaVu Sans"/>
              </a:rPr>
              <a:t>120</a:t>
            </a:r>
          </a:p>
        </p:txBody>
      </p:sp>
      <p:sp>
        <p:nvSpPr>
          <p:cNvPr id="5" name="">
            <a:extLst xmlns:a="http://schemas.openxmlformats.org/drawingml/2006/main">
              <a:ext uri="{FF2B5EF4-FFF2-40B4-BE49-F238E27FC236}">
                <a16:creationId xmlns:a16="http://schemas.microsoft.com/office/drawing/2014/main" id="{7FB8422E-93D1-4453-AC93-6A38EB869D10}"/>
              </a:ext>
            </a:extLst>
          </p:cNvPr>
          <p:cNvSpPr>
            <a:spLocks xmlns:a="http://schemas.openxmlformats.org/drawingml/2006/main" noGrp="1"/>
          </p:cNvSpPr>
          <p:nvPr/>
        </p:nvSpPr>
        <p:spPr>
          <a:xfrm xmlns:a="http://schemas.openxmlformats.org/drawingml/2006/main">
            <a:off x="609600" y="36195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46"/>
                </a:solidFill>
                <a:latin typeface="DejaVu Sans"/>
                <a:ea typeface="DejaVu Sans"/>
                <a:cs typeface="DejaVu Sans"/>
              </a:defRPr>
            </a:defPPr>
          </a:lstStyle>
          <a:p xmlns:a="http://schemas.openxmlformats.org/drawingml/2006/main">
            <a:pPr algn="l">
              <a:defRPr sz="2025" b="0">
                <a:solidFill>
                  <a:srgbClr val="142B46"/>
                </a:solidFill>
                <a:latin typeface="DejaVu Sans"/>
                <a:ea typeface="DejaVu Sans"/>
                <a:cs typeface="DejaVu Sans"/>
              </a:defRPr>
            </a:pPr>
            <a:r>
              <a:rPr sz="2025" b="0">
                <a:solidFill>
                  <a:srgbClr val="142B46"/>
                </a:solidFill>
                <a:latin typeface="DejaVu Sans"/>
                <a:ea typeface="DejaVu Sans"/>
                <a:cs typeface="DejaVu Sans"/>
              </a:rPr>
              <a:t>рекрутеров</a:t>
            </a:r>
          </a:p>
        </p:txBody>
      </p:sp>
      <p:sp>
        <p:nvSpPr>
          <p:cNvPr id="6" name="">
            <a:extLst xmlns:a="http://schemas.openxmlformats.org/drawingml/2006/main">
              <a:ext uri="{FF2B5EF4-FFF2-40B4-BE49-F238E27FC236}">
                <a16:creationId xmlns:a16="http://schemas.microsoft.com/office/drawing/2014/main" id="{FE459FCF-F835-49AF-99F1-4CBBF3A09FBC}"/>
              </a:ext>
            </a:extLst>
          </p:cNvPr>
          <p:cNvSpPr>
            <a:spLocks xmlns:a="http://schemas.openxmlformats.org/drawingml/2006/main" noGrp="1"/>
          </p:cNvSpPr>
          <p:nvPr/>
        </p:nvSpPr>
        <p:spPr>
          <a:xfrm xmlns:a="http://schemas.openxmlformats.org/drawingml/2006/main">
            <a:off x="4276725" y="271462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464AB"/>
                </a:solidFill>
                <a:latin typeface="DejaVu Sans"/>
                <a:ea typeface="DejaVu Sans"/>
                <a:cs typeface="DejaVu Sans"/>
              </a:defRPr>
            </a:defPPr>
          </a:lstStyle>
          <a:p xmlns:a="http://schemas.openxmlformats.org/drawingml/2006/main">
            <a:pPr algn="l">
              <a:defRPr sz="5250" b="1">
                <a:solidFill>
                  <a:srgbClr val="2464AB"/>
                </a:solidFill>
                <a:latin typeface="DejaVu Sans"/>
                <a:ea typeface="DejaVu Sans"/>
                <a:cs typeface="DejaVu Sans"/>
              </a:defRPr>
            </a:pPr>
            <a:r>
              <a:rPr sz="5250" b="1">
                <a:solidFill>
                  <a:srgbClr val="2464AB"/>
                </a:solidFill>
                <a:latin typeface="DejaVu Sans"/>
                <a:ea typeface="DejaVu Sans"/>
                <a:cs typeface="DejaVu Sans"/>
              </a:rPr>
              <a:t>2 000</a:t>
            </a:r>
          </a:p>
        </p:txBody>
      </p:sp>
      <p:sp>
        <p:nvSpPr>
          <p:cNvPr id="7" name="">
            <a:extLst xmlns:a="http://schemas.openxmlformats.org/drawingml/2006/main">
              <a:ext uri="{FF2B5EF4-FFF2-40B4-BE49-F238E27FC236}">
                <a16:creationId xmlns:a16="http://schemas.microsoft.com/office/drawing/2014/main" id="{36DFDD8C-8545-4E41-8502-CCE6AB1DEED1}"/>
              </a:ext>
            </a:extLst>
          </p:cNvPr>
          <p:cNvSpPr>
            <a:spLocks xmlns:a="http://schemas.openxmlformats.org/drawingml/2006/main" noGrp="1"/>
          </p:cNvSpPr>
          <p:nvPr/>
        </p:nvSpPr>
        <p:spPr>
          <a:xfrm xmlns:a="http://schemas.openxmlformats.org/drawingml/2006/main">
            <a:off x="4276725" y="36195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46"/>
                </a:solidFill>
                <a:latin typeface="DejaVu Sans"/>
                <a:ea typeface="DejaVu Sans"/>
                <a:cs typeface="DejaVu Sans"/>
              </a:defRPr>
            </a:defPPr>
          </a:lstStyle>
          <a:p xmlns:a="http://schemas.openxmlformats.org/drawingml/2006/main">
            <a:pPr algn="l">
              <a:defRPr sz="2025" b="0">
                <a:solidFill>
                  <a:srgbClr val="142B46"/>
                </a:solidFill>
                <a:latin typeface="DejaVu Sans"/>
                <a:ea typeface="DejaVu Sans"/>
                <a:cs typeface="DejaVu Sans"/>
              </a:defRPr>
            </a:pPr>
            <a:r>
              <a:rPr sz="2025" b="0">
                <a:solidFill>
                  <a:srgbClr val="142B46"/>
                </a:solidFill>
                <a:latin typeface="DejaVu Sans"/>
                <a:ea typeface="DejaVu Sans"/>
                <a:cs typeface="DejaVu Sans"/>
              </a:rPr>
              <a:t>активных вакансий</a:t>
            </a:r>
          </a:p>
        </p:txBody>
      </p:sp>
      <p:sp>
        <p:nvSpPr>
          <p:cNvPr id="8" name="">
            <a:extLst xmlns:a="http://schemas.openxmlformats.org/drawingml/2006/main">
              <a:ext uri="{FF2B5EF4-FFF2-40B4-BE49-F238E27FC236}">
                <a16:creationId xmlns:a16="http://schemas.microsoft.com/office/drawing/2014/main" id="{7A35CCC9-BF86-4EAC-A031-482502CB698C}"/>
              </a:ext>
            </a:extLst>
          </p:cNvPr>
          <p:cNvSpPr>
            <a:spLocks xmlns:a="http://schemas.openxmlformats.org/drawingml/2006/main" noGrp="1"/>
          </p:cNvSpPr>
          <p:nvPr/>
        </p:nvSpPr>
        <p:spPr>
          <a:xfrm xmlns:a="http://schemas.openxmlformats.org/drawingml/2006/main">
            <a:off x="7953375" y="2714625"/>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464AB"/>
                </a:solidFill>
                <a:latin typeface="DejaVu Sans"/>
                <a:ea typeface="DejaVu Sans"/>
                <a:cs typeface="DejaVu Sans"/>
              </a:defRPr>
            </a:defPPr>
          </a:lstStyle>
          <a:p xmlns:a="http://schemas.openxmlformats.org/drawingml/2006/main">
            <a:pPr algn="l">
              <a:defRPr sz="5250" b="1">
                <a:solidFill>
                  <a:srgbClr val="2464AB"/>
                </a:solidFill>
                <a:latin typeface="DejaVu Sans"/>
                <a:ea typeface="DejaVu Sans"/>
                <a:cs typeface="DejaVu Sans"/>
              </a:defRPr>
            </a:pPr>
            <a:r>
              <a:rPr sz="5250" b="1">
                <a:solidFill>
                  <a:srgbClr val="2464AB"/>
                </a:solidFill>
                <a:latin typeface="DejaVu Sans"/>
                <a:ea typeface="DejaVu Sans"/>
                <a:cs typeface="DejaVu Sans"/>
              </a:rPr>
              <a:t>350 000</a:t>
            </a:r>
          </a:p>
        </p:txBody>
      </p:sp>
      <p:sp>
        <p:nvSpPr>
          <p:cNvPr id="9" name="">
            <a:extLst xmlns:a="http://schemas.openxmlformats.org/drawingml/2006/main">
              <a:ext uri="{FF2B5EF4-FFF2-40B4-BE49-F238E27FC236}">
                <a16:creationId xmlns:a16="http://schemas.microsoft.com/office/drawing/2014/main" id="{07EAF4FA-64C7-4FCE-A543-D0CB3D91A526}"/>
              </a:ext>
            </a:extLst>
          </p:cNvPr>
          <p:cNvSpPr>
            <a:spLocks xmlns:a="http://schemas.openxmlformats.org/drawingml/2006/main" noGrp="1"/>
          </p:cNvSpPr>
          <p:nvPr/>
        </p:nvSpPr>
        <p:spPr>
          <a:xfrm xmlns:a="http://schemas.openxmlformats.org/drawingml/2006/main">
            <a:off x="7953375" y="36195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B46"/>
                </a:solidFill>
                <a:latin typeface="DejaVu Sans"/>
                <a:ea typeface="DejaVu Sans"/>
                <a:cs typeface="DejaVu Sans"/>
              </a:defRPr>
            </a:defPPr>
          </a:lstStyle>
          <a:p xmlns:a="http://schemas.openxmlformats.org/drawingml/2006/main">
            <a:pPr algn="l">
              <a:defRPr sz="2025" b="0">
                <a:solidFill>
                  <a:srgbClr val="142B46"/>
                </a:solidFill>
                <a:latin typeface="DejaVu Sans"/>
                <a:ea typeface="DejaVu Sans"/>
                <a:cs typeface="DejaVu Sans"/>
              </a:defRPr>
            </a:pPr>
            <a:r>
              <a:rPr sz="2025" b="0">
                <a:solidFill>
                  <a:srgbClr val="142B46"/>
                </a:solidFill>
                <a:latin typeface="DejaVu Sans"/>
                <a:ea typeface="DejaVu Sans"/>
                <a:cs typeface="DejaVu Sans"/>
              </a:rPr>
              <a:t>резюме в базе</a:t>
            </a:r>
          </a:p>
        </p:txBody>
      </p:sp>
      <p:sp>
        <p:nvSpPr>
          <p:cNvPr id="10" name="">
            <a:extLst xmlns:a="http://schemas.openxmlformats.org/drawingml/2006/main">
              <a:ext uri="{FF2B5EF4-FFF2-40B4-BE49-F238E27FC236}">
                <a16:creationId xmlns:a16="http://schemas.microsoft.com/office/drawing/2014/main" id="{882AC0FD-2410-4943-9ED7-571BA495C2D3}"/>
              </a:ext>
            </a:extLst>
          </p:cNvPr>
          <p:cNvSpPr>
            <a:spLocks xmlns:a="http://schemas.openxmlformats.org/drawingml/2006/main" noGrp="1"/>
          </p:cNvSpPr>
          <p:nvPr/>
        </p:nvSpPr>
        <p:spPr>
          <a:xfrm xmlns:a="http://schemas.openxmlformats.org/drawingml/2006/main">
            <a:off x="609600" y="5000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42B46"/>
                </a:solidFill>
                <a:latin typeface="DejaVu Sans"/>
                <a:ea typeface="DejaVu Sans"/>
                <a:cs typeface="DejaVu Sans"/>
              </a:defRPr>
            </a:defPPr>
          </a:lstStyle>
          <a:p xmlns:a="http://schemas.openxmlformats.org/drawingml/2006/main">
            <a:pPr algn="l">
              <a:defRPr sz="2475" b="1">
                <a:solidFill>
                  <a:srgbClr val="142B46"/>
                </a:solidFill>
                <a:latin typeface="DejaVu Sans"/>
                <a:ea typeface="DejaVu Sans"/>
                <a:cs typeface="DejaVu Sans"/>
              </a:defRPr>
            </a:pPr>
            <a:r>
              <a:rPr sz="2475" b="1">
                <a:solidFill>
                  <a:srgbClr val="142B46"/>
                </a:solidFill>
                <a:latin typeface="DejaVu Sans"/>
                <a:ea typeface="DejaVu Sans"/>
                <a:cs typeface="DejaVu Sans"/>
              </a:rPr>
              <a:t>Рекрутер утверждает список и проверяет основания</a:t>
            </a:r>
          </a:p>
        </p:txBody>
      </p:sp>
    </p:spTree>
    <p:extLst>
      <p:ext uri="{BB962C8B-B14F-4D97-AF65-F5344CB8AC3E}">
        <p14:creationId xmlns:p14="http://schemas.microsoft.com/office/powerpoint/2010/main" val="14863389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7252258A-7FCD-4F10-807F-040F27C22C4F}"/>
              </a:ext>
            </a:extLst>
          </p:cNvPr>
          <p:cNvCxnSpPr>
            <a:stCxn xmlns:a="http://schemas.openxmlformats.org/drawingml/2006/main" id="12" idx="3"/>
            <a:endCxn xmlns:a="http://schemas.openxmlformats.org/drawingml/2006/main" id="15" idx="1"/>
          </p:cNvCxnSpPr>
          <p:nvPr/>
        </p:nvCxnSpPr>
        <p:spPr>
          <a:xfrm xmlns:a="http://schemas.openxmlformats.org/drawingml/2006/main">
            <a:off x="9353550" y="2262188"/>
            <a:ext cx="17145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AD33E393-C92E-4F25-AF4E-2FBE6F2D0A21}"/>
              </a:ext>
            </a:extLst>
          </p:cNvPr>
          <p:cNvCxnSpPr>
            <a:stCxn xmlns:a="http://schemas.openxmlformats.org/drawingml/2006/main" id="9" idx="3"/>
            <a:endCxn xmlns:a="http://schemas.openxmlformats.org/drawingml/2006/main" id="12" idx="1"/>
          </p:cNvCxnSpPr>
          <p:nvPr/>
        </p:nvCxnSpPr>
        <p:spPr>
          <a:xfrm xmlns:a="http://schemas.openxmlformats.org/drawingml/2006/main">
            <a:off x="7124700" y="2262188"/>
            <a:ext cx="17145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F675A112-A468-4709-B2DF-498897911165}"/>
              </a:ext>
            </a:extLst>
          </p:cNvPr>
          <p:cNvCxnSpPr>
            <a:stCxn xmlns:a="http://schemas.openxmlformats.org/drawingml/2006/main" id="6" idx="3"/>
            <a:endCxn xmlns:a="http://schemas.openxmlformats.org/drawingml/2006/main" id="9" idx="1"/>
          </p:cNvCxnSpPr>
          <p:nvPr/>
        </p:nvCxnSpPr>
        <p:spPr>
          <a:xfrm xmlns:a="http://schemas.openxmlformats.org/drawingml/2006/main">
            <a:off x="4895850" y="2262188"/>
            <a:ext cx="17145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18" name="">
            <a:extLst xmlns:a="http://schemas.openxmlformats.org/drawingml/2006/main">
              <a:ext uri="{FF2B5EF4-FFF2-40B4-BE49-F238E27FC236}">
                <a16:creationId xmlns:a16="http://schemas.microsoft.com/office/drawing/2014/main" id="{B74D0A58-9F8C-46BB-BCAA-0BCBA492A33F}"/>
              </a:ext>
            </a:extLst>
          </p:cNvPr>
          <p:cNvCxnSpPr>
            <a:stCxn xmlns:a="http://schemas.openxmlformats.org/drawingml/2006/main" id="3" idx="3"/>
            <a:endCxn xmlns:a="http://schemas.openxmlformats.org/drawingml/2006/main" id="6" idx="1"/>
          </p:cNvCxnSpPr>
          <p:nvPr/>
        </p:nvCxnSpPr>
        <p:spPr>
          <a:xfrm xmlns:a="http://schemas.openxmlformats.org/drawingml/2006/main">
            <a:off x="2667000" y="2262188"/>
            <a:ext cx="17145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sp>
        <p:nvSpPr>
          <p:cNvPr id="25" name="">
            <a:extLst xmlns:a="http://schemas.openxmlformats.org/drawingml/2006/main">
              <a:ext uri="{FF2B5EF4-FFF2-40B4-BE49-F238E27FC236}">
                <a16:creationId xmlns:a16="http://schemas.microsoft.com/office/drawing/2014/main" id="{2CD9109A-3CE7-4A7D-BE63-4DB369D7004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Процесс подбора</a:t>
            </a:r>
          </a:p>
        </p:txBody>
      </p:sp>
      <p:sp>
        <p:nvSpPr>
          <p:cNvPr id="2" name="">
            <a:extLst xmlns:a="http://schemas.openxmlformats.org/drawingml/2006/main">
              <a:ext uri="{FF2B5EF4-FFF2-40B4-BE49-F238E27FC236}">
                <a16:creationId xmlns:a16="http://schemas.microsoft.com/office/drawing/2014/main" id="{4F311788-ADCB-4CEC-8F21-22968E9456B7}"/>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02</a:t>
            </a:r>
          </a:p>
        </p:txBody>
      </p:sp>
      <p:sp>
        <p:nvSpPr>
          <p:cNvPr id="3" name="Вакансия">
            <a:extLst xmlns:a="http://schemas.openxmlformats.org/drawingml/2006/main">
              <a:ext uri="{FF2B5EF4-FFF2-40B4-BE49-F238E27FC236}">
                <a16:creationId xmlns:a16="http://schemas.microsoft.com/office/drawing/2014/main" id="{BAAEAF04-2E19-4410-BA5C-B24A475179D6}"/>
              </a:ext>
            </a:extLst>
          </p:cNvPr>
          <p:cNvSpPr>
            <a:spLocks xmlns:a="http://schemas.openxmlformats.org/drawingml/2006/main" noGrp="1"/>
          </p:cNvSpPr>
          <p:nvPr/>
        </p:nvSpPr>
        <p:spPr>
          <a:xfrm xmlns:a="http://schemas.openxmlformats.org/drawingml/2006/main">
            <a:off x="609600" y="1714500"/>
            <a:ext cx="2057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4" name="">
            <a:extLst xmlns:a="http://schemas.openxmlformats.org/drawingml/2006/main">
              <a:ext uri="{FF2B5EF4-FFF2-40B4-BE49-F238E27FC236}">
                <a16:creationId xmlns:a16="http://schemas.microsoft.com/office/drawing/2014/main" id="{44507524-C0C5-4056-93C7-508B30C40B70}"/>
              </a:ext>
            </a:extLst>
          </p:cNvPr>
          <p:cNvSpPr>
            <a:spLocks xmlns:a="http://schemas.openxmlformats.org/drawingml/2006/main" noGrp="1"/>
          </p:cNvSpPr>
          <p:nvPr/>
        </p:nvSpPr>
        <p:spPr>
          <a:xfrm xmlns:a="http://schemas.openxmlformats.org/drawingml/2006/main">
            <a:off x="742950" y="18288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Вакансия</a:t>
            </a:r>
          </a:p>
        </p:txBody>
      </p:sp>
      <p:sp>
        <p:nvSpPr>
          <p:cNvPr id="5" name="">
            <a:extLst xmlns:a="http://schemas.openxmlformats.org/drawingml/2006/main">
              <a:ext uri="{FF2B5EF4-FFF2-40B4-BE49-F238E27FC236}">
                <a16:creationId xmlns:a16="http://schemas.microsoft.com/office/drawing/2014/main" id="{92931470-29C7-4793-9F7C-A022220F89F2}"/>
              </a:ext>
            </a:extLst>
          </p:cNvPr>
          <p:cNvSpPr>
            <a:spLocks xmlns:a="http://schemas.openxmlformats.org/drawingml/2006/main" noGrp="1"/>
          </p:cNvSpPr>
          <p:nvPr/>
        </p:nvSpPr>
        <p:spPr>
          <a:xfrm xmlns:a="http://schemas.openxmlformats.org/drawingml/2006/main">
            <a:off x="742950" y="2171700"/>
            <a:ext cx="179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Требования и версия</a:t>
            </a:r>
          </a:p>
        </p:txBody>
      </p:sp>
      <p:sp>
        <p:nvSpPr>
          <p:cNvPr id="6" name="Пул PDF">
            <a:extLst xmlns:a="http://schemas.openxmlformats.org/drawingml/2006/main">
              <a:ext uri="{FF2B5EF4-FFF2-40B4-BE49-F238E27FC236}">
                <a16:creationId xmlns:a16="http://schemas.microsoft.com/office/drawing/2014/main" id="{071DA631-63BD-487D-8FDF-5C2EE73C8A5C}"/>
              </a:ext>
            </a:extLst>
          </p:cNvPr>
          <p:cNvSpPr>
            <a:spLocks xmlns:a="http://schemas.openxmlformats.org/drawingml/2006/main" noGrp="1"/>
          </p:cNvSpPr>
          <p:nvPr/>
        </p:nvSpPr>
        <p:spPr>
          <a:xfrm xmlns:a="http://schemas.openxmlformats.org/drawingml/2006/main">
            <a:off x="2838450" y="1714500"/>
            <a:ext cx="2057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7" name="">
            <a:extLst xmlns:a="http://schemas.openxmlformats.org/drawingml/2006/main">
              <a:ext uri="{FF2B5EF4-FFF2-40B4-BE49-F238E27FC236}">
                <a16:creationId xmlns:a16="http://schemas.microsoft.com/office/drawing/2014/main" id="{36825ED3-E194-42D6-A14E-CAE8C209FA90}"/>
              </a:ext>
            </a:extLst>
          </p:cNvPr>
          <p:cNvSpPr>
            <a:spLocks xmlns:a="http://schemas.openxmlformats.org/drawingml/2006/main" noGrp="1"/>
          </p:cNvSpPr>
          <p:nvPr/>
        </p:nvSpPr>
        <p:spPr>
          <a:xfrm xmlns:a="http://schemas.openxmlformats.org/drawingml/2006/main">
            <a:off x="2971800" y="18288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Пул PDF</a:t>
            </a:r>
          </a:p>
        </p:txBody>
      </p:sp>
      <p:sp>
        <p:nvSpPr>
          <p:cNvPr id="8" name="">
            <a:extLst xmlns:a="http://schemas.openxmlformats.org/drawingml/2006/main">
              <a:ext uri="{FF2B5EF4-FFF2-40B4-BE49-F238E27FC236}">
                <a16:creationId xmlns:a16="http://schemas.microsoft.com/office/drawing/2014/main" id="{B9A9B828-30DC-4797-9DA7-20E845369472}"/>
              </a:ext>
            </a:extLst>
          </p:cNvPr>
          <p:cNvSpPr>
            <a:spLocks xmlns:a="http://schemas.openxmlformats.org/drawingml/2006/main" noGrp="1"/>
          </p:cNvSpPr>
          <p:nvPr/>
        </p:nvSpPr>
        <p:spPr>
          <a:xfrm xmlns:a="http://schemas.openxmlformats.org/drawingml/2006/main">
            <a:off x="2971800" y="2171700"/>
            <a:ext cx="179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Проверка проекта</a:t>
            </a:r>
          </a:p>
        </p:txBody>
      </p:sp>
      <p:sp>
        <p:nvSpPr>
          <p:cNvPr id="9" name="Сравнение">
            <a:extLst xmlns:a="http://schemas.openxmlformats.org/drawingml/2006/main">
              <a:ext uri="{FF2B5EF4-FFF2-40B4-BE49-F238E27FC236}">
                <a16:creationId xmlns:a16="http://schemas.microsoft.com/office/drawing/2014/main" id="{654B7E2D-F9B3-468D-A5C3-EF3EE64507DF}"/>
              </a:ext>
            </a:extLst>
          </p:cNvPr>
          <p:cNvSpPr>
            <a:spLocks xmlns:a="http://schemas.openxmlformats.org/drawingml/2006/main" noGrp="1"/>
          </p:cNvSpPr>
          <p:nvPr/>
        </p:nvSpPr>
        <p:spPr>
          <a:xfrm xmlns:a="http://schemas.openxmlformats.org/drawingml/2006/main">
            <a:off x="5067300" y="1714500"/>
            <a:ext cx="2057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10" name="">
            <a:extLst xmlns:a="http://schemas.openxmlformats.org/drawingml/2006/main">
              <a:ext uri="{FF2B5EF4-FFF2-40B4-BE49-F238E27FC236}">
                <a16:creationId xmlns:a16="http://schemas.microsoft.com/office/drawing/2014/main" id="{468174F7-0211-4E68-907B-44ADDBEEA90A}"/>
              </a:ext>
            </a:extLst>
          </p:cNvPr>
          <p:cNvSpPr>
            <a:spLocks xmlns:a="http://schemas.openxmlformats.org/drawingml/2006/main" noGrp="1"/>
          </p:cNvSpPr>
          <p:nvPr/>
        </p:nvSpPr>
        <p:spPr>
          <a:xfrm xmlns:a="http://schemas.openxmlformats.org/drawingml/2006/main">
            <a:off x="5200650" y="18288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Сравнение</a:t>
            </a:r>
          </a:p>
        </p:txBody>
      </p:sp>
      <p:sp>
        <p:nvSpPr>
          <p:cNvPr id="11" name="">
            <a:extLst xmlns:a="http://schemas.openxmlformats.org/drawingml/2006/main">
              <a:ext uri="{FF2B5EF4-FFF2-40B4-BE49-F238E27FC236}">
                <a16:creationId xmlns:a16="http://schemas.microsoft.com/office/drawing/2014/main" id="{2B478D02-05F1-4794-9F97-89A569DA9130}"/>
              </a:ext>
            </a:extLst>
          </p:cNvPr>
          <p:cNvSpPr>
            <a:spLocks xmlns:a="http://schemas.openxmlformats.org/drawingml/2006/main" noGrp="1"/>
          </p:cNvSpPr>
          <p:nvPr/>
        </p:nvSpPr>
        <p:spPr>
          <a:xfrm xmlns:a="http://schemas.openxmlformats.org/drawingml/2006/main">
            <a:off x="5200650" y="2171700"/>
            <a:ext cx="179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Навыки и цитаты</a:t>
            </a:r>
          </a:p>
        </p:txBody>
      </p:sp>
      <p:sp>
        <p:nvSpPr>
          <p:cNvPr id="12" name="Проверка">
            <a:extLst xmlns:a="http://schemas.openxmlformats.org/drawingml/2006/main">
              <a:ext uri="{FF2B5EF4-FFF2-40B4-BE49-F238E27FC236}">
                <a16:creationId xmlns:a16="http://schemas.microsoft.com/office/drawing/2014/main" id="{BAB56C98-58E1-4EE6-A274-66F3E2195A13}"/>
              </a:ext>
            </a:extLst>
          </p:cNvPr>
          <p:cNvSpPr>
            <a:spLocks xmlns:a="http://schemas.openxmlformats.org/drawingml/2006/main" noGrp="1"/>
          </p:cNvSpPr>
          <p:nvPr/>
        </p:nvSpPr>
        <p:spPr>
          <a:xfrm xmlns:a="http://schemas.openxmlformats.org/drawingml/2006/main">
            <a:off x="7296150" y="1714500"/>
            <a:ext cx="20574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13" name="">
            <a:extLst xmlns:a="http://schemas.openxmlformats.org/drawingml/2006/main">
              <a:ext uri="{FF2B5EF4-FFF2-40B4-BE49-F238E27FC236}">
                <a16:creationId xmlns:a16="http://schemas.microsoft.com/office/drawing/2014/main" id="{95A7F946-FA14-4734-BE43-FA451E5D67F4}"/>
              </a:ext>
            </a:extLst>
          </p:cNvPr>
          <p:cNvSpPr>
            <a:spLocks xmlns:a="http://schemas.openxmlformats.org/drawingml/2006/main" noGrp="1"/>
          </p:cNvSpPr>
          <p:nvPr/>
        </p:nvSpPr>
        <p:spPr>
          <a:xfrm xmlns:a="http://schemas.openxmlformats.org/drawingml/2006/main">
            <a:off x="7429500" y="18288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Проверка</a:t>
            </a:r>
          </a:p>
        </p:txBody>
      </p:sp>
      <p:sp>
        <p:nvSpPr>
          <p:cNvPr id="14" name="">
            <a:extLst xmlns:a="http://schemas.openxmlformats.org/drawingml/2006/main">
              <a:ext uri="{FF2B5EF4-FFF2-40B4-BE49-F238E27FC236}">
                <a16:creationId xmlns:a16="http://schemas.microsoft.com/office/drawing/2014/main" id="{6C39F8B2-7806-4646-8E2B-5FE980F87A06}"/>
              </a:ext>
            </a:extLst>
          </p:cNvPr>
          <p:cNvSpPr>
            <a:spLocks xmlns:a="http://schemas.openxmlformats.org/drawingml/2006/main" noGrp="1"/>
          </p:cNvSpPr>
          <p:nvPr/>
        </p:nvSpPr>
        <p:spPr>
          <a:xfrm xmlns:a="http://schemas.openxmlformats.org/drawingml/2006/main">
            <a:off x="7429500" y="2171700"/>
            <a:ext cx="179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Сомнения и дубли</a:t>
            </a:r>
          </a:p>
        </p:txBody>
      </p:sp>
      <p:sp>
        <p:nvSpPr>
          <p:cNvPr id="15" name="Утверждение">
            <a:extLst xmlns:a="http://schemas.openxmlformats.org/drawingml/2006/main">
              <a:ext uri="{FF2B5EF4-FFF2-40B4-BE49-F238E27FC236}">
                <a16:creationId xmlns:a16="http://schemas.microsoft.com/office/drawing/2014/main" id="{D8351550-72AA-443E-B869-39BA4E23B610}"/>
              </a:ext>
            </a:extLst>
          </p:cNvPr>
          <p:cNvSpPr>
            <a:spLocks xmlns:a="http://schemas.openxmlformats.org/drawingml/2006/main" noGrp="1"/>
          </p:cNvSpPr>
          <p:nvPr/>
        </p:nvSpPr>
        <p:spPr>
          <a:xfrm xmlns:a="http://schemas.openxmlformats.org/drawingml/2006/main">
            <a:off x="9525000" y="1714500"/>
            <a:ext cx="20574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2464AB"/>
            </a:solidFill>
          </a:ln>
        </p:spPr>
      </p:sp>
      <p:sp>
        <p:nvSpPr>
          <p:cNvPr id="16" name="">
            <a:extLst xmlns:a="http://schemas.openxmlformats.org/drawingml/2006/main">
              <a:ext uri="{FF2B5EF4-FFF2-40B4-BE49-F238E27FC236}">
                <a16:creationId xmlns:a16="http://schemas.microsoft.com/office/drawing/2014/main" id="{AB135069-83A0-4722-9F7A-A48F641DD922}"/>
              </a:ext>
            </a:extLst>
          </p:cNvPr>
          <p:cNvSpPr>
            <a:spLocks xmlns:a="http://schemas.openxmlformats.org/drawingml/2006/main" noGrp="1"/>
          </p:cNvSpPr>
          <p:nvPr/>
        </p:nvSpPr>
        <p:spPr>
          <a:xfrm xmlns:a="http://schemas.openxmlformats.org/drawingml/2006/main">
            <a:off x="9658350" y="18288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Утверждение</a:t>
            </a:r>
          </a:p>
        </p:txBody>
      </p:sp>
      <p:sp>
        <p:nvSpPr>
          <p:cNvPr id="17" name="">
            <a:extLst xmlns:a="http://schemas.openxmlformats.org/drawingml/2006/main">
              <a:ext uri="{FF2B5EF4-FFF2-40B4-BE49-F238E27FC236}">
                <a16:creationId xmlns:a16="http://schemas.microsoft.com/office/drawing/2014/main" id="{7E7C518C-7337-4687-B19B-A8C45E72D876}"/>
              </a:ext>
            </a:extLst>
          </p:cNvPr>
          <p:cNvSpPr>
            <a:spLocks xmlns:a="http://schemas.openxmlformats.org/drawingml/2006/main" noGrp="1"/>
          </p:cNvSpPr>
          <p:nvPr/>
        </p:nvSpPr>
        <p:spPr>
          <a:xfrm xmlns:a="http://schemas.openxmlformats.org/drawingml/2006/main">
            <a:off x="9658350" y="2171700"/>
            <a:ext cx="179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Решение рекрутера</a:t>
            </a:r>
          </a:p>
        </p:txBody>
      </p:sp>
      <p:sp>
        <p:nvSpPr>
          <p:cNvPr id="22" name="">
            <a:extLst xmlns:a="http://schemas.openxmlformats.org/drawingml/2006/main">
              <a:ext uri="{FF2B5EF4-FFF2-40B4-BE49-F238E27FC236}">
                <a16:creationId xmlns:a16="http://schemas.microsoft.com/office/drawing/2014/main" id="{515140DD-3491-40E1-9BF3-77DAE8611951}"/>
              </a:ext>
            </a:extLst>
          </p:cNvPr>
          <p:cNvSpPr>
            <a:spLocks xmlns:a="http://schemas.openxmlformats.org/drawingml/2006/main" noGrp="1"/>
          </p:cNvSpPr>
          <p:nvPr/>
        </p:nvSpPr>
        <p:spPr>
          <a:xfrm xmlns:a="http://schemas.openxmlformats.org/drawingml/2006/main">
            <a:off x="609600" y="3476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2B46"/>
                </a:solidFill>
                <a:latin typeface="DejaVu Sans"/>
                <a:ea typeface="DejaVu Sans"/>
                <a:cs typeface="DejaVu Sans"/>
              </a:defRPr>
            </a:defPPr>
          </a:lstStyle>
          <a:p xmlns:a="http://schemas.openxmlformats.org/drawingml/2006/main">
            <a:pPr algn="l">
              <a:defRPr sz="2325" b="1">
                <a:solidFill>
                  <a:srgbClr val="142B46"/>
                </a:solidFill>
                <a:latin typeface="DejaVu Sans"/>
                <a:ea typeface="DejaVu Sans"/>
                <a:cs typeface="DejaVu Sans"/>
              </a:defRPr>
            </a:pPr>
            <a:r>
              <a:rPr sz="2325" b="1">
                <a:solidFill>
                  <a:srgbClr val="142B46"/>
                </a:solidFill>
                <a:latin typeface="DejaVu Sans"/>
                <a:ea typeface="DejaVu Sans"/>
                <a:cs typeface="DejaVu Sans"/>
              </a:rPr>
              <a:t>Пять бизнес-KPI</a:t>
            </a:r>
          </a:p>
        </p:txBody>
      </p:sp>
      <p:sp>
        <p:nvSpPr>
          <p:cNvPr id="23" name="">
            <a:extLst xmlns:a="http://schemas.openxmlformats.org/drawingml/2006/main">
              <a:ext uri="{FF2B5EF4-FFF2-40B4-BE49-F238E27FC236}">
                <a16:creationId xmlns:a16="http://schemas.microsoft.com/office/drawing/2014/main" id="{CAE9EBC6-5FDE-48E7-A629-A024FF5E5A50}"/>
              </a:ext>
            </a:extLst>
          </p:cNvPr>
          <p:cNvSpPr>
            <a:spLocks xmlns:a="http://schemas.openxmlformats.org/drawingml/2006/main" noGrp="1"/>
          </p:cNvSpPr>
          <p:nvPr/>
        </p:nvSpPr>
        <p:spPr>
          <a:xfrm xmlns:a="http://schemas.openxmlformats.org/drawingml/2006/main">
            <a:off x="609600" y="40957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F6173"/>
                </a:solidFill>
                <a:latin typeface="DejaVu Sans"/>
                <a:ea typeface="DejaVu Sans"/>
                <a:cs typeface="DejaVu Sans"/>
              </a:defRPr>
            </a:defPPr>
          </a:lstStyle>
          <a:p xmlns:a="http://schemas.openxmlformats.org/drawingml/2006/main">
            <a:pPr algn="l">
              <a:defRPr sz="2025" b="0">
                <a:solidFill>
                  <a:srgbClr val="4F6173"/>
                </a:solidFill>
                <a:latin typeface="DejaVu Sans"/>
                <a:ea typeface="DejaVu Sans"/>
                <a:cs typeface="DejaVu Sans"/>
              </a:defRPr>
            </a:pPr>
            <a:r>
              <a:rPr sz="2025" b="0">
                <a:solidFill>
                  <a:srgbClr val="4F6173"/>
                </a:solidFill>
                <a:latin typeface="DejaVu Sans"/>
                <a:ea typeface="DejaVu Sans"/>
                <a:cs typeface="DejaVu Sans"/>
              </a:rPr>
              <a:t>Время первичного разбора</a:t>
            </a:r>
          </a:p>
          <a:p xmlns:a="http://schemas.openxmlformats.org/drawingml/2006/main">
            <a:pPr algn="l">
              <a:defRPr sz="2025" b="0">
                <a:solidFill>
                  <a:srgbClr val="4F6173"/>
                </a:solidFill>
                <a:latin typeface="DejaVu Sans"/>
                <a:ea typeface="DejaVu Sans"/>
                <a:cs typeface="DejaVu Sans"/>
              </a:defRPr>
            </a:pPr>
            <a:r>
              <a:rPr sz="2025" b="0">
                <a:solidFill>
                  <a:srgbClr val="4F6173"/>
                </a:solidFill>
                <a:latin typeface="DejaVu Sans"/>
                <a:ea typeface="DejaVu Sans"/>
                <a:cs typeface="DejaVu Sans"/>
              </a:rPr>
              <a:t>Минуты ручной работы</a:t>
            </a:r>
          </a:p>
          <a:p xmlns:a="http://schemas.openxmlformats.org/drawingml/2006/main">
            <a:pPr algn="l">
              <a:defRPr sz="2025" b="0">
                <a:solidFill>
                  <a:srgbClr val="4F6173"/>
                </a:solidFill>
                <a:latin typeface="DejaVu Sans"/>
                <a:ea typeface="DejaVu Sans"/>
                <a:cs typeface="DejaVu Sans"/>
              </a:defRPr>
            </a:pPr>
            <a:r>
              <a:rPr sz="2025" b="0">
                <a:solidFill>
                  <a:srgbClr val="4F6173"/>
                </a:solidFill>
                <a:latin typeface="DejaVu Sans"/>
                <a:ea typeface="DejaVu Sans"/>
                <a:cs typeface="DejaVu Sans"/>
              </a:rPr>
              <a:t>Релевантность short-list</a:t>
            </a:r>
          </a:p>
        </p:txBody>
      </p:sp>
      <p:sp>
        <p:nvSpPr>
          <p:cNvPr id="24" name="">
            <a:extLst xmlns:a="http://schemas.openxmlformats.org/drawingml/2006/main">
              <a:ext uri="{FF2B5EF4-FFF2-40B4-BE49-F238E27FC236}">
                <a16:creationId xmlns:a16="http://schemas.microsoft.com/office/drawing/2014/main" id="{61A92538-6A41-4873-BCD4-35886CF23BC9}"/>
              </a:ext>
            </a:extLst>
          </p:cNvPr>
          <p:cNvSpPr>
            <a:spLocks xmlns:a="http://schemas.openxmlformats.org/drawingml/2006/main" noGrp="1"/>
          </p:cNvSpPr>
          <p:nvPr/>
        </p:nvSpPr>
        <p:spPr>
          <a:xfrm xmlns:a="http://schemas.openxmlformats.org/drawingml/2006/main">
            <a:off x="6381750" y="40957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F6173"/>
                </a:solidFill>
                <a:latin typeface="DejaVu Sans"/>
                <a:ea typeface="DejaVu Sans"/>
                <a:cs typeface="DejaVu Sans"/>
              </a:defRPr>
            </a:defPPr>
          </a:lstStyle>
          <a:p xmlns:a="http://schemas.openxmlformats.org/drawingml/2006/main">
            <a:pPr algn="l">
              <a:defRPr sz="2025" b="0">
                <a:solidFill>
                  <a:srgbClr val="4F6173"/>
                </a:solidFill>
                <a:latin typeface="DejaVu Sans"/>
                <a:ea typeface="DejaVu Sans"/>
                <a:cs typeface="DejaVu Sans"/>
              </a:defRPr>
            </a:pPr>
            <a:r>
              <a:rPr sz="2025" b="0">
                <a:solidFill>
                  <a:srgbClr val="4F6173"/>
                </a:solidFill>
                <a:latin typeface="DejaVu Sans"/>
                <a:ea typeface="DejaVu Sans"/>
                <a:cs typeface="DejaVu Sans"/>
              </a:rPr>
              <a:t>Проверяемость оснований</a:t>
            </a:r>
          </a:p>
          <a:p xmlns:a="http://schemas.openxmlformats.org/drawingml/2006/main">
            <a:pPr algn="l">
              <a:defRPr sz="2025" b="0">
                <a:solidFill>
                  <a:srgbClr val="4F6173"/>
                </a:solidFill>
                <a:latin typeface="DejaVu Sans"/>
                <a:ea typeface="DejaVu Sans"/>
                <a:cs typeface="DejaVu Sans"/>
              </a:defRPr>
            </a:pPr>
            <a:r>
              <a:rPr sz="2025" b="0">
                <a:solidFill>
                  <a:srgbClr val="4F6173"/>
                </a:solidFill>
                <a:latin typeface="DejaVu Sans"/>
                <a:ea typeface="DejaVu Sans"/>
                <a:cs typeface="DejaVu Sans"/>
              </a:rPr>
              <a:t>Соблюдение SLA вакансии</a:t>
            </a:r>
          </a:p>
        </p:txBody>
      </p:sp>
    </p:spTree>
    <p:extLst>
      <p:ext uri="{BB962C8B-B14F-4D97-AF65-F5344CB8AC3E}">
        <p14:creationId xmlns:p14="http://schemas.microsoft.com/office/powerpoint/2010/main" val="1421961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833B1AE6-5F4B-47A3-ADDE-6AC327704AC7}"/>
              </a:ext>
            </a:extLst>
          </p:cNvPr>
          <p:cNvCxnSpPr>
            <a:stCxn xmlns:a="http://schemas.openxmlformats.org/drawingml/2006/main" id="6" idx="1"/>
            <a:endCxn xmlns:a="http://schemas.openxmlformats.org/drawingml/2006/main" id="15" idx="3"/>
          </p:cNvCxnSpPr>
          <p:nvPr/>
        </p:nvCxnSpPr>
        <p:spPr>
          <a:xfrm xmlns:a="http://schemas.openxmlformats.org/drawingml/2006/main" flipH="1">
            <a:off x="2800350" y="2619375"/>
            <a:ext cx="1200150" cy="2000250"/>
          </a:xfrm>
          <a:prstGeom xmlns:a="http://schemas.openxmlformats.org/drawingml/2006/main" prst="bentConnector3">
            <a:avLst>
              <a:gd name="adj1" fmla="val 50000"/>
            </a:avLst>
          </a:prstGeom>
          <a:ln xmlns:a="http://schemas.openxmlformats.org/drawingml/2006/main" w="19050">
            <a:solidFill>
              <a:srgbClr val="2464AB"/>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740D73B3-F0D1-4F09-8922-C28F0FD60000}"/>
              </a:ext>
            </a:extLst>
          </p:cNvPr>
          <p:cNvCxnSpPr>
            <a:stCxn xmlns:a="http://schemas.openxmlformats.org/drawingml/2006/main" id="6" idx="2"/>
            <a:endCxn xmlns:a="http://schemas.openxmlformats.org/drawingml/2006/main" id="12" idx="0"/>
          </p:cNvCxnSpPr>
          <p:nvPr/>
        </p:nvCxnSpPr>
        <p:spPr>
          <a:xfrm xmlns:a="http://schemas.openxmlformats.org/drawingml/2006/main">
            <a:off x="5334000" y="3095625"/>
            <a:ext cx="0" cy="1000125"/>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1B265AC5-47A0-4C6B-BF25-7EA2059C9FBD}"/>
              </a:ext>
            </a:extLst>
          </p:cNvPr>
          <p:cNvCxnSpPr>
            <a:stCxn xmlns:a="http://schemas.openxmlformats.org/drawingml/2006/main" id="6" idx="3"/>
            <a:endCxn xmlns:a="http://schemas.openxmlformats.org/drawingml/2006/main" id="9" idx="1"/>
          </p:cNvCxnSpPr>
          <p:nvPr/>
        </p:nvCxnSpPr>
        <p:spPr>
          <a:xfrm xmlns:a="http://schemas.openxmlformats.org/drawingml/2006/main">
            <a:off x="6667500" y="2619375"/>
            <a:ext cx="161925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18" name="">
            <a:extLst xmlns:a="http://schemas.openxmlformats.org/drawingml/2006/main">
              <a:ext uri="{FF2B5EF4-FFF2-40B4-BE49-F238E27FC236}">
                <a16:creationId xmlns:a16="http://schemas.microsoft.com/office/drawing/2014/main" id="{ACDBE640-82ED-4E4D-A019-5B72AC5FDA58}"/>
              </a:ext>
            </a:extLst>
          </p:cNvPr>
          <p:cNvCxnSpPr>
            <a:stCxn xmlns:a="http://schemas.openxmlformats.org/drawingml/2006/main" id="3" idx="3"/>
            <a:endCxn xmlns:a="http://schemas.openxmlformats.org/drawingml/2006/main" id="6" idx="1"/>
          </p:cNvCxnSpPr>
          <p:nvPr/>
        </p:nvCxnSpPr>
        <p:spPr>
          <a:xfrm xmlns:a="http://schemas.openxmlformats.org/drawingml/2006/main">
            <a:off x="2800350" y="2619375"/>
            <a:ext cx="120015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sp>
        <p:nvSpPr>
          <p:cNvPr id="24" name="">
            <a:extLst xmlns:a="http://schemas.openxmlformats.org/drawingml/2006/main">
              <a:ext uri="{FF2B5EF4-FFF2-40B4-BE49-F238E27FC236}">
                <a16:creationId xmlns:a16="http://schemas.microsoft.com/office/drawing/2014/main" id="{FF220EC9-0F53-4DAD-8139-DEF8048017FF}"/>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Контекст и граница доступа</a:t>
            </a:r>
          </a:p>
        </p:txBody>
      </p:sp>
      <p:sp>
        <p:nvSpPr>
          <p:cNvPr id="2" name="">
            <a:extLst xmlns:a="http://schemas.openxmlformats.org/drawingml/2006/main">
              <a:ext uri="{FF2B5EF4-FFF2-40B4-BE49-F238E27FC236}">
                <a16:creationId xmlns:a16="http://schemas.microsoft.com/office/drawing/2014/main" id="{18B4215C-2833-44E9-BE26-43D8E6FE5B27}"/>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03</a:t>
            </a:r>
          </a:p>
        </p:txBody>
      </p:sp>
      <p:sp>
        <p:nvSpPr>
          <p:cNvPr id="3" name="Сотрудник">
            <a:extLst xmlns:a="http://schemas.openxmlformats.org/drawingml/2006/main">
              <a:ext uri="{FF2B5EF4-FFF2-40B4-BE49-F238E27FC236}">
                <a16:creationId xmlns:a16="http://schemas.microsoft.com/office/drawing/2014/main" id="{6278331A-D2ED-4F5B-87CE-3AFEE657E5AD}"/>
              </a:ext>
            </a:extLst>
          </p:cNvPr>
          <p:cNvSpPr>
            <a:spLocks xmlns:a="http://schemas.openxmlformats.org/drawingml/2006/main" noGrp="1"/>
          </p:cNvSpPr>
          <p:nvPr/>
        </p:nvSpPr>
        <p:spPr>
          <a:xfrm xmlns:a="http://schemas.openxmlformats.org/drawingml/2006/main">
            <a:off x="609600" y="2143125"/>
            <a:ext cx="2190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4" name="">
            <a:extLst xmlns:a="http://schemas.openxmlformats.org/drawingml/2006/main">
              <a:ext uri="{FF2B5EF4-FFF2-40B4-BE49-F238E27FC236}">
                <a16:creationId xmlns:a16="http://schemas.microsoft.com/office/drawing/2014/main" id="{F40C8E8A-4516-4ABD-9905-38AFE648032A}"/>
              </a:ext>
            </a:extLst>
          </p:cNvPr>
          <p:cNvSpPr>
            <a:spLocks xmlns:a="http://schemas.openxmlformats.org/drawingml/2006/main" noGrp="1"/>
          </p:cNvSpPr>
          <p:nvPr/>
        </p:nvSpPr>
        <p:spPr>
          <a:xfrm xmlns:a="http://schemas.openxmlformats.org/drawingml/2006/main">
            <a:off x="742950" y="2257425"/>
            <a:ext cx="1924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Сотрудник</a:t>
            </a:r>
          </a:p>
        </p:txBody>
      </p:sp>
      <p:sp>
        <p:nvSpPr>
          <p:cNvPr id="5" name="">
            <a:extLst xmlns:a="http://schemas.openxmlformats.org/drawingml/2006/main">
              <a:ext uri="{FF2B5EF4-FFF2-40B4-BE49-F238E27FC236}">
                <a16:creationId xmlns:a16="http://schemas.microsoft.com/office/drawing/2014/main" id="{D9B2DD2F-3AEC-44BA-8C8F-0DC2FCA840EC}"/>
              </a:ext>
            </a:extLst>
          </p:cNvPr>
          <p:cNvSpPr>
            <a:spLocks xmlns:a="http://schemas.openxmlformats.org/drawingml/2006/main" noGrp="1"/>
          </p:cNvSpPr>
          <p:nvPr/>
        </p:nvSpPr>
        <p:spPr>
          <a:xfrm xmlns:a="http://schemas.openxmlformats.org/drawingml/2006/main">
            <a:off x="742950" y="2600325"/>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Браузер и роль</a:t>
            </a:r>
          </a:p>
        </p:txBody>
      </p:sp>
      <p:sp>
        <p:nvSpPr>
          <p:cNvPr id="6" name="Управляющий API">
            <a:extLst xmlns:a="http://schemas.openxmlformats.org/drawingml/2006/main">
              <a:ext uri="{FF2B5EF4-FFF2-40B4-BE49-F238E27FC236}">
                <a16:creationId xmlns:a16="http://schemas.microsoft.com/office/drawing/2014/main" id="{F8FC775B-AF0D-41CA-A1FD-B89E8C17FA81}"/>
              </a:ext>
            </a:extLst>
          </p:cNvPr>
          <p:cNvSpPr>
            <a:spLocks xmlns:a="http://schemas.openxmlformats.org/drawingml/2006/main" noGrp="1"/>
          </p:cNvSpPr>
          <p:nvPr/>
        </p:nvSpPr>
        <p:spPr>
          <a:xfrm xmlns:a="http://schemas.openxmlformats.org/drawingml/2006/main">
            <a:off x="4000500" y="2143125"/>
            <a:ext cx="2667000" cy="952500"/>
          </a:xfrm>
          <a:prstGeom xmlns:a="http://schemas.openxmlformats.org/drawingml/2006/main" prst="rect">
            <a:avLst/>
          </a:prstGeom>
          <a:solidFill xmlns:a="http://schemas.openxmlformats.org/drawingml/2006/main">
            <a:srgbClr val="EDF3F9"/>
          </a:solidFill>
          <a:ln xmlns:a="http://schemas.openxmlformats.org/drawingml/2006/main" w="14288">
            <a:solidFill>
              <a:srgbClr val="2464AB"/>
            </a:solidFill>
          </a:ln>
        </p:spPr>
      </p:sp>
      <p:sp>
        <p:nvSpPr>
          <p:cNvPr id="7" name="">
            <a:extLst xmlns:a="http://schemas.openxmlformats.org/drawingml/2006/main">
              <a:ext uri="{FF2B5EF4-FFF2-40B4-BE49-F238E27FC236}">
                <a16:creationId xmlns:a16="http://schemas.microsoft.com/office/drawing/2014/main" id="{8FA2CA68-9657-4E04-8733-1C3E2D60582F}"/>
              </a:ext>
            </a:extLst>
          </p:cNvPr>
          <p:cNvSpPr>
            <a:spLocks xmlns:a="http://schemas.openxmlformats.org/drawingml/2006/main" noGrp="1"/>
          </p:cNvSpPr>
          <p:nvPr/>
        </p:nvSpPr>
        <p:spPr>
          <a:xfrm xmlns:a="http://schemas.openxmlformats.org/drawingml/2006/main">
            <a:off x="4133850" y="2257425"/>
            <a:ext cx="240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Управляющий API</a:t>
            </a:r>
          </a:p>
        </p:txBody>
      </p:sp>
      <p:sp>
        <p:nvSpPr>
          <p:cNvPr id="8" name="">
            <a:extLst xmlns:a="http://schemas.openxmlformats.org/drawingml/2006/main">
              <a:ext uri="{FF2B5EF4-FFF2-40B4-BE49-F238E27FC236}">
                <a16:creationId xmlns:a16="http://schemas.microsoft.com/office/drawing/2014/main" id="{64E6A938-F3DA-4637-97FD-B77C921E36C0}"/>
              </a:ext>
            </a:extLst>
          </p:cNvPr>
          <p:cNvSpPr>
            <a:spLocks xmlns:a="http://schemas.openxmlformats.org/drawingml/2006/main" noGrp="1"/>
          </p:cNvSpPr>
          <p:nvPr/>
        </p:nvSpPr>
        <p:spPr>
          <a:xfrm xmlns:a="http://schemas.openxmlformats.org/drawingml/2006/main">
            <a:off x="4133850" y="2600325"/>
            <a:ext cx="2400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Права и задачи</a:t>
            </a:r>
          </a:p>
        </p:txBody>
      </p:sp>
      <p:sp>
        <p:nvSpPr>
          <p:cNvPr id="9" name="Разрешённые данные">
            <a:extLst xmlns:a="http://schemas.openxmlformats.org/drawingml/2006/main">
              <a:ext uri="{FF2B5EF4-FFF2-40B4-BE49-F238E27FC236}">
                <a16:creationId xmlns:a16="http://schemas.microsoft.com/office/drawing/2014/main" id="{7B70DA8F-C82C-49AF-A747-F8BE83C748AF}"/>
              </a:ext>
            </a:extLst>
          </p:cNvPr>
          <p:cNvSpPr>
            <a:spLocks xmlns:a="http://schemas.openxmlformats.org/drawingml/2006/main" noGrp="1"/>
          </p:cNvSpPr>
          <p:nvPr/>
        </p:nvSpPr>
        <p:spPr>
          <a:xfrm xmlns:a="http://schemas.openxmlformats.org/drawingml/2006/main">
            <a:off x="8286750" y="2143125"/>
            <a:ext cx="32385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10" name="">
            <a:extLst xmlns:a="http://schemas.openxmlformats.org/drawingml/2006/main">
              <a:ext uri="{FF2B5EF4-FFF2-40B4-BE49-F238E27FC236}">
                <a16:creationId xmlns:a16="http://schemas.microsoft.com/office/drawing/2014/main" id="{D8CE3796-EBCE-41CE-9218-17DE8D717055}"/>
              </a:ext>
            </a:extLst>
          </p:cNvPr>
          <p:cNvSpPr>
            <a:spLocks xmlns:a="http://schemas.openxmlformats.org/drawingml/2006/main" noGrp="1"/>
          </p:cNvSpPr>
          <p:nvPr/>
        </p:nvSpPr>
        <p:spPr>
          <a:xfrm xmlns:a="http://schemas.openxmlformats.org/drawingml/2006/main">
            <a:off x="8420100" y="2257425"/>
            <a:ext cx="297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Разрешённые данные</a:t>
            </a:r>
          </a:p>
        </p:txBody>
      </p:sp>
      <p:sp>
        <p:nvSpPr>
          <p:cNvPr id="11" name="">
            <a:extLst xmlns:a="http://schemas.openxmlformats.org/drawingml/2006/main">
              <a:ext uri="{FF2B5EF4-FFF2-40B4-BE49-F238E27FC236}">
                <a16:creationId xmlns:a16="http://schemas.microsoft.com/office/drawing/2014/main" id="{37535CA5-E678-48F5-9F52-34288982FB53}"/>
              </a:ext>
            </a:extLst>
          </p:cNvPr>
          <p:cNvSpPr>
            <a:spLocks xmlns:a="http://schemas.openxmlformats.org/drawingml/2006/main" noGrp="1"/>
          </p:cNvSpPr>
          <p:nvPr/>
        </p:nvSpPr>
        <p:spPr>
          <a:xfrm xmlns:a="http://schemas.openxmlformats.org/drawingml/2006/main">
            <a:off x="8420100" y="2600325"/>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Клиент и проект</a:t>
            </a:r>
          </a:p>
        </p:txBody>
      </p:sp>
      <p:sp>
        <p:nvSpPr>
          <p:cNvPr id="12" name="Вычислитель">
            <a:extLst xmlns:a="http://schemas.openxmlformats.org/drawingml/2006/main">
              <a:ext uri="{FF2B5EF4-FFF2-40B4-BE49-F238E27FC236}">
                <a16:creationId xmlns:a16="http://schemas.microsoft.com/office/drawing/2014/main" id="{EA3A9C4B-8C57-4A3B-B181-15E2791C1BF9}"/>
              </a:ext>
            </a:extLst>
          </p:cNvPr>
          <p:cNvSpPr>
            <a:spLocks xmlns:a="http://schemas.openxmlformats.org/drawingml/2006/main" noGrp="1"/>
          </p:cNvSpPr>
          <p:nvPr/>
        </p:nvSpPr>
        <p:spPr>
          <a:xfrm xmlns:a="http://schemas.openxmlformats.org/drawingml/2006/main">
            <a:off x="4000500" y="4095750"/>
            <a:ext cx="26670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2464AB"/>
            </a:solidFill>
          </a:ln>
        </p:spPr>
      </p:sp>
      <p:sp>
        <p:nvSpPr>
          <p:cNvPr id="13" name="">
            <a:extLst xmlns:a="http://schemas.openxmlformats.org/drawingml/2006/main">
              <a:ext uri="{FF2B5EF4-FFF2-40B4-BE49-F238E27FC236}">
                <a16:creationId xmlns:a16="http://schemas.microsoft.com/office/drawing/2014/main" id="{416EF1E2-7C32-44E2-B82C-9CC530673EC9}"/>
              </a:ext>
            </a:extLst>
          </p:cNvPr>
          <p:cNvSpPr>
            <a:spLocks xmlns:a="http://schemas.openxmlformats.org/drawingml/2006/main" noGrp="1"/>
          </p:cNvSpPr>
          <p:nvPr/>
        </p:nvSpPr>
        <p:spPr>
          <a:xfrm xmlns:a="http://schemas.openxmlformats.org/drawingml/2006/main">
            <a:off x="4133850" y="4210050"/>
            <a:ext cx="240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Вычислитель</a:t>
            </a:r>
          </a:p>
        </p:txBody>
      </p:sp>
      <p:sp>
        <p:nvSpPr>
          <p:cNvPr id="14" name="">
            <a:extLst xmlns:a="http://schemas.openxmlformats.org/drawingml/2006/main">
              <a:ext uri="{FF2B5EF4-FFF2-40B4-BE49-F238E27FC236}">
                <a16:creationId xmlns:a16="http://schemas.microsoft.com/office/drawing/2014/main" id="{2725F8FB-CEF2-4EA9-B5B7-5E7CD7B71EBE}"/>
              </a:ext>
            </a:extLst>
          </p:cNvPr>
          <p:cNvSpPr>
            <a:spLocks xmlns:a="http://schemas.openxmlformats.org/drawingml/2006/main" noGrp="1"/>
          </p:cNvSpPr>
          <p:nvPr/>
        </p:nvSpPr>
        <p:spPr>
          <a:xfrm xmlns:a="http://schemas.openxmlformats.org/drawingml/2006/main">
            <a:off x="4133850" y="4552950"/>
            <a:ext cx="2400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compute.py</a:t>
            </a:r>
          </a:p>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MiniLM и Qwen3, ROCm</a:t>
            </a:r>
          </a:p>
        </p:txBody>
      </p:sp>
      <p:sp>
        <p:nvSpPr>
          <p:cNvPr id="15" name="PDF-парсер">
            <a:extLst xmlns:a="http://schemas.openxmlformats.org/drawingml/2006/main">
              <a:ext uri="{FF2B5EF4-FFF2-40B4-BE49-F238E27FC236}">
                <a16:creationId xmlns:a16="http://schemas.microsoft.com/office/drawing/2014/main" id="{69E5C186-658A-43BB-831C-362289067C6B}"/>
              </a:ext>
            </a:extLst>
          </p:cNvPr>
          <p:cNvSpPr>
            <a:spLocks xmlns:a="http://schemas.openxmlformats.org/drawingml/2006/main" noGrp="1"/>
          </p:cNvSpPr>
          <p:nvPr/>
        </p:nvSpPr>
        <p:spPr>
          <a:xfrm xmlns:a="http://schemas.openxmlformats.org/drawingml/2006/main">
            <a:off x="609600" y="4095750"/>
            <a:ext cx="2190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16" name="">
            <a:extLst xmlns:a="http://schemas.openxmlformats.org/drawingml/2006/main">
              <a:ext uri="{FF2B5EF4-FFF2-40B4-BE49-F238E27FC236}">
                <a16:creationId xmlns:a16="http://schemas.microsoft.com/office/drawing/2014/main" id="{636384FA-C780-447D-B382-47324EAC7E03}"/>
              </a:ext>
            </a:extLst>
          </p:cNvPr>
          <p:cNvSpPr>
            <a:spLocks xmlns:a="http://schemas.openxmlformats.org/drawingml/2006/main" noGrp="1"/>
          </p:cNvSpPr>
          <p:nvPr/>
        </p:nvSpPr>
        <p:spPr>
          <a:xfrm xmlns:a="http://schemas.openxmlformats.org/drawingml/2006/main">
            <a:off x="742950" y="4210050"/>
            <a:ext cx="1924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PDF-парсер</a:t>
            </a:r>
          </a:p>
        </p:txBody>
      </p:sp>
      <p:sp>
        <p:nvSpPr>
          <p:cNvPr id="17" name="">
            <a:extLst xmlns:a="http://schemas.openxmlformats.org/drawingml/2006/main">
              <a:ext uri="{FF2B5EF4-FFF2-40B4-BE49-F238E27FC236}">
                <a16:creationId xmlns:a16="http://schemas.microsoft.com/office/drawing/2014/main" id="{569CD957-5E6A-4952-A792-7D37106A3826}"/>
              </a:ext>
            </a:extLst>
          </p:cNvPr>
          <p:cNvSpPr>
            <a:spLocks xmlns:a="http://schemas.openxmlformats.org/drawingml/2006/main" noGrp="1"/>
          </p:cNvSpPr>
          <p:nvPr/>
        </p:nvSpPr>
        <p:spPr>
          <a:xfrm xmlns:a="http://schemas.openxmlformats.org/drawingml/2006/main">
            <a:off x="742950" y="4552950"/>
            <a:ext cx="1924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pypdf, отдельный процесс</a:t>
            </a:r>
          </a:p>
        </p:txBody>
      </p:sp>
      <p:sp>
        <p:nvSpPr>
          <p:cNvPr id="22" name="">
            <a:extLst xmlns:a="http://schemas.openxmlformats.org/drawingml/2006/main">
              <a:ext uri="{FF2B5EF4-FFF2-40B4-BE49-F238E27FC236}">
                <a16:creationId xmlns:a16="http://schemas.microsoft.com/office/drawing/2014/main" id="{01D0A9F7-E206-467B-9427-87C32F9EC227}"/>
              </a:ext>
            </a:extLst>
          </p:cNvPr>
          <p:cNvSpPr>
            <a:spLocks xmlns:a="http://schemas.openxmlformats.org/drawingml/2006/main" noGrp="1"/>
          </p:cNvSpPr>
          <p:nvPr/>
        </p:nvSpPr>
        <p:spPr>
          <a:xfrm xmlns:a="http://schemas.openxmlformats.org/drawingml/2006/main">
            <a:off x="4000500" y="138112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464AB"/>
                </a:solidFill>
                <a:latin typeface="DejaVu Sans"/>
                <a:ea typeface="DejaVu Sans"/>
                <a:cs typeface="DejaVu Sans"/>
              </a:defRPr>
            </a:defPPr>
          </a:lstStyle>
          <a:p xmlns:a="http://schemas.openxmlformats.org/drawingml/2006/main">
            <a:pPr algn="l">
              <a:defRPr sz="2175" b="1">
                <a:solidFill>
                  <a:srgbClr val="2464AB"/>
                </a:solidFill>
                <a:latin typeface="DejaVu Sans"/>
                <a:ea typeface="DejaVu Sans"/>
                <a:cs typeface="DejaVu Sans"/>
              </a:defRPr>
            </a:pPr>
            <a:r>
              <a:rPr sz="2175" b="1">
                <a:solidFill>
                  <a:srgbClr val="2464AB"/>
                </a:solidFill>
                <a:latin typeface="DejaVu Sans"/>
                <a:ea typeface="DejaVu Sans"/>
                <a:cs typeface="DejaVu Sans"/>
              </a:rPr>
              <a:t>Корпоративный рабочий контур</a:t>
            </a:r>
          </a:p>
        </p:txBody>
      </p:sp>
      <p:sp>
        <p:nvSpPr>
          <p:cNvPr id="23" name="">
            <a:extLst xmlns:a="http://schemas.openxmlformats.org/drawingml/2006/main">
              <a:ext uri="{FF2B5EF4-FFF2-40B4-BE49-F238E27FC236}">
                <a16:creationId xmlns:a16="http://schemas.microsoft.com/office/drawing/2014/main" id="{0404A348-B02E-465D-B87A-631CF1047C14}"/>
              </a:ext>
            </a:extLst>
          </p:cNvPr>
          <p:cNvSpPr>
            <a:spLocks xmlns:a="http://schemas.openxmlformats.org/drawingml/2006/main" noGrp="1"/>
          </p:cNvSpPr>
          <p:nvPr/>
        </p:nvSpPr>
        <p:spPr>
          <a:xfrm xmlns:a="http://schemas.openxmlformats.org/drawingml/2006/main">
            <a:off x="609600" y="55245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F6173"/>
                </a:solidFill>
                <a:latin typeface="DejaVu Sans"/>
                <a:ea typeface="DejaVu Sans"/>
                <a:cs typeface="DejaVu Sans"/>
              </a:defRPr>
            </a:defPPr>
          </a:lstStyle>
          <a:p xmlns:a="http://schemas.openxmlformats.org/drawingml/2006/main">
            <a:pPr algn="l">
              <a:defRPr sz="1950" b="0">
                <a:solidFill>
                  <a:srgbClr val="4F6173"/>
                </a:solidFill>
                <a:latin typeface="DejaVu Sans"/>
                <a:ea typeface="DejaVu Sans"/>
                <a:cs typeface="DejaVu Sans"/>
              </a:defRPr>
            </a:pPr>
            <a:r>
              <a:rPr sz="1950" b="0">
                <a:solidFill>
                  <a:srgbClr val="4F6173"/>
                </a:solidFill>
                <a:latin typeface="DejaVu Sans"/>
                <a:ea typeface="DejaVu Sans"/>
                <a:cs typeface="DejaVu Sans"/>
              </a:rPr>
              <a:t>PDF с текстовым слоем: до 5 MiB и 20 страниц, без OCR</a:t>
            </a:r>
          </a:p>
          <a:p xmlns:a="http://schemas.openxmlformats.org/drawingml/2006/main">
            <a:pPr algn="l">
              <a:defRPr sz="1950" b="0">
                <a:solidFill>
                  <a:srgbClr val="4F6173"/>
                </a:solidFill>
                <a:latin typeface="DejaVu Sans"/>
                <a:ea typeface="DejaVu Sans"/>
                <a:cs typeface="DejaVu Sans"/>
              </a:defRPr>
            </a:pPr>
            <a:r>
              <a:rPr sz="1950" b="0">
                <a:solidFill>
                  <a:srgbClr val="4F6173"/>
                </a:solidFill>
                <a:latin typeface="DejaVu Sans"/>
                <a:ea typeface="DejaVu Sans"/>
                <a:cs typeface="DejaVu Sans"/>
              </a:rPr>
              <a:t>Сетевой ориентир: исходящий рабочий интернет 0</a:t>
            </a:r>
          </a:p>
        </p:txBody>
      </p:sp>
    </p:spTree>
    <p:extLst>
      <p:ext uri="{BB962C8B-B14F-4D97-AF65-F5344CB8AC3E}">
        <p14:creationId xmlns:p14="http://schemas.microsoft.com/office/powerpoint/2010/main" val="18082582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1" name="">
            <a:extLst xmlns:a="http://schemas.openxmlformats.org/drawingml/2006/main">
              <a:ext uri="{FF2B5EF4-FFF2-40B4-BE49-F238E27FC236}">
                <a16:creationId xmlns:a16="http://schemas.microsoft.com/office/drawing/2014/main" id="{4A47DFDE-A574-4883-A0EF-48DBAD8FFC12}"/>
              </a:ext>
            </a:extLst>
          </p:cNvPr>
          <p:cNvCxnSpPr>
            <a:stCxn xmlns:a="http://schemas.openxmlformats.org/drawingml/2006/main" id="6" idx="1"/>
            <a:endCxn xmlns:a="http://schemas.openxmlformats.org/drawingml/2006/main" id="30" idx="3"/>
          </p:cNvCxnSpPr>
          <p:nvPr/>
        </p:nvCxnSpPr>
        <p:spPr>
          <a:xfrm xmlns:a="http://schemas.openxmlformats.org/drawingml/2006/main" flipH="1">
            <a:off x="2895600" y="2143125"/>
            <a:ext cx="571500" cy="3571875"/>
          </a:xfrm>
          <a:prstGeom xmlns:a="http://schemas.openxmlformats.org/drawingml/2006/main" prst="bentConnector4">
            <a:avLst/>
          </a:prstGeom>
          <a:ln xmlns:a="http://schemas.openxmlformats.org/drawingml/2006/main" w="19050">
            <a:solidFill>
              <a:srgbClr val="2464AB"/>
            </a:solidFill>
            <a:prstDash val="solid"/>
            <a:tailEnd type="arrow" w="sm" len="sm"/>
          </a:ln>
        </p:spPr>
      </p:cxnSp>
      <p:cxnSp>
        <p:nvCxnSpPr>
          <p:cNvPr id="40" name="">
            <a:extLst xmlns:a="http://schemas.openxmlformats.org/drawingml/2006/main">
              <a:ext uri="{FF2B5EF4-FFF2-40B4-BE49-F238E27FC236}">
                <a16:creationId xmlns:a16="http://schemas.microsoft.com/office/drawing/2014/main" id="{B65A254D-5E3B-464E-A740-88815D8563FF}"/>
              </a:ext>
            </a:extLst>
          </p:cNvPr>
          <p:cNvCxnSpPr>
            <a:stCxn xmlns:a="http://schemas.openxmlformats.org/drawingml/2006/main" id="18" idx="3"/>
            <a:endCxn xmlns:a="http://schemas.openxmlformats.org/drawingml/2006/main" id="21" idx="1"/>
          </p:cNvCxnSpPr>
          <p:nvPr/>
        </p:nvCxnSpPr>
        <p:spPr>
          <a:xfrm xmlns:a="http://schemas.openxmlformats.org/drawingml/2006/main">
            <a:off x="8610600" y="4048125"/>
            <a:ext cx="57150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39" name="">
            <a:extLst xmlns:a="http://schemas.openxmlformats.org/drawingml/2006/main">
              <a:ext uri="{FF2B5EF4-FFF2-40B4-BE49-F238E27FC236}">
                <a16:creationId xmlns:a16="http://schemas.microsoft.com/office/drawing/2014/main" id="{78658E51-30D6-4879-9748-98C9D923C98A}"/>
              </a:ext>
            </a:extLst>
          </p:cNvPr>
          <p:cNvCxnSpPr>
            <a:stCxn xmlns:a="http://schemas.openxmlformats.org/drawingml/2006/main" id="24" idx="3"/>
            <a:endCxn xmlns:a="http://schemas.openxmlformats.org/drawingml/2006/main" id="27" idx="1"/>
          </p:cNvCxnSpPr>
          <p:nvPr/>
        </p:nvCxnSpPr>
        <p:spPr>
          <a:xfrm xmlns:a="http://schemas.openxmlformats.org/drawingml/2006/main">
            <a:off x="8610600" y="5715000"/>
            <a:ext cx="57150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38" name="">
            <a:extLst xmlns:a="http://schemas.openxmlformats.org/drawingml/2006/main">
              <a:ext uri="{FF2B5EF4-FFF2-40B4-BE49-F238E27FC236}">
                <a16:creationId xmlns:a16="http://schemas.microsoft.com/office/drawing/2014/main" id="{D0E1DC00-D353-4604-B730-651CB31111B7}"/>
              </a:ext>
            </a:extLst>
          </p:cNvPr>
          <p:cNvCxnSpPr>
            <a:stCxn xmlns:a="http://schemas.openxmlformats.org/drawingml/2006/main" id="18" idx="2"/>
            <a:endCxn xmlns:a="http://schemas.openxmlformats.org/drawingml/2006/main" id="24" idx="0"/>
          </p:cNvCxnSpPr>
          <p:nvPr/>
        </p:nvCxnSpPr>
        <p:spPr>
          <a:xfrm xmlns:a="http://schemas.openxmlformats.org/drawingml/2006/main">
            <a:off x="7467600" y="4572000"/>
            <a:ext cx="0" cy="66675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37" name="">
            <a:extLst xmlns:a="http://schemas.openxmlformats.org/drawingml/2006/main">
              <a:ext uri="{FF2B5EF4-FFF2-40B4-BE49-F238E27FC236}">
                <a16:creationId xmlns:a16="http://schemas.microsoft.com/office/drawing/2014/main" id="{B818E128-37D7-4C9C-B366-B06230B30898}"/>
              </a:ext>
            </a:extLst>
          </p:cNvPr>
          <p:cNvCxnSpPr>
            <a:stCxn xmlns:a="http://schemas.openxmlformats.org/drawingml/2006/main" id="9" idx="2"/>
            <a:endCxn xmlns:a="http://schemas.openxmlformats.org/drawingml/2006/main" id="18" idx="0"/>
          </p:cNvCxnSpPr>
          <p:nvPr/>
        </p:nvCxnSpPr>
        <p:spPr>
          <a:xfrm xmlns:a="http://schemas.openxmlformats.org/drawingml/2006/main">
            <a:off x="7467600" y="2667000"/>
            <a:ext cx="0" cy="85725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36" name="">
            <a:extLst xmlns:a="http://schemas.openxmlformats.org/drawingml/2006/main">
              <a:ext uri="{FF2B5EF4-FFF2-40B4-BE49-F238E27FC236}">
                <a16:creationId xmlns:a16="http://schemas.microsoft.com/office/drawing/2014/main" id="{4B63625F-0040-4D56-A680-618E75A077A4}"/>
              </a:ext>
            </a:extLst>
          </p:cNvPr>
          <p:cNvCxnSpPr>
            <a:stCxn xmlns:a="http://schemas.openxmlformats.org/drawingml/2006/main" id="6" idx="2"/>
            <a:endCxn xmlns:a="http://schemas.openxmlformats.org/drawingml/2006/main" id="15" idx="0"/>
          </p:cNvCxnSpPr>
          <p:nvPr/>
        </p:nvCxnSpPr>
        <p:spPr>
          <a:xfrm xmlns:a="http://schemas.openxmlformats.org/drawingml/2006/main">
            <a:off x="4610100" y="2667000"/>
            <a:ext cx="0" cy="85725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35" name="">
            <a:extLst xmlns:a="http://schemas.openxmlformats.org/drawingml/2006/main">
              <a:ext uri="{FF2B5EF4-FFF2-40B4-BE49-F238E27FC236}">
                <a16:creationId xmlns:a16="http://schemas.microsoft.com/office/drawing/2014/main" id="{AC5AB00F-0159-435C-A8CD-8F5699CEF0DD}"/>
              </a:ext>
            </a:extLst>
          </p:cNvPr>
          <p:cNvCxnSpPr>
            <a:stCxn xmlns:a="http://schemas.openxmlformats.org/drawingml/2006/main" id="9" idx="3"/>
            <a:endCxn xmlns:a="http://schemas.openxmlformats.org/drawingml/2006/main" id="12" idx="1"/>
          </p:cNvCxnSpPr>
          <p:nvPr/>
        </p:nvCxnSpPr>
        <p:spPr>
          <a:xfrm xmlns:a="http://schemas.openxmlformats.org/drawingml/2006/main">
            <a:off x="8610600" y="2143125"/>
            <a:ext cx="57150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34" name="">
            <a:extLst xmlns:a="http://schemas.openxmlformats.org/drawingml/2006/main">
              <a:ext uri="{FF2B5EF4-FFF2-40B4-BE49-F238E27FC236}">
                <a16:creationId xmlns:a16="http://schemas.microsoft.com/office/drawing/2014/main" id="{1050F508-7084-4B83-9081-65F718FF009F}"/>
              </a:ext>
            </a:extLst>
          </p:cNvPr>
          <p:cNvCxnSpPr>
            <a:stCxn xmlns:a="http://schemas.openxmlformats.org/drawingml/2006/main" id="6" idx="3"/>
            <a:endCxn xmlns:a="http://schemas.openxmlformats.org/drawingml/2006/main" id="9" idx="1"/>
          </p:cNvCxnSpPr>
          <p:nvPr/>
        </p:nvCxnSpPr>
        <p:spPr>
          <a:xfrm xmlns:a="http://schemas.openxmlformats.org/drawingml/2006/main">
            <a:off x="5753100" y="2143125"/>
            <a:ext cx="57150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cxnSp>
        <p:nvCxnSpPr>
          <p:cNvPr id="33" name="">
            <a:extLst xmlns:a="http://schemas.openxmlformats.org/drawingml/2006/main">
              <a:ext uri="{FF2B5EF4-FFF2-40B4-BE49-F238E27FC236}">
                <a16:creationId xmlns:a16="http://schemas.microsoft.com/office/drawing/2014/main" id="{759802BD-80D3-46D1-B56C-C84DF4E7EC1F}"/>
              </a:ext>
            </a:extLst>
          </p:cNvPr>
          <p:cNvCxnSpPr>
            <a:stCxn xmlns:a="http://schemas.openxmlformats.org/drawingml/2006/main" id="3" idx="3"/>
            <a:endCxn xmlns:a="http://schemas.openxmlformats.org/drawingml/2006/main" id="6" idx="1"/>
          </p:cNvCxnSpPr>
          <p:nvPr/>
        </p:nvCxnSpPr>
        <p:spPr>
          <a:xfrm xmlns:a="http://schemas.openxmlformats.org/drawingml/2006/main">
            <a:off x="2895600" y="2143125"/>
            <a:ext cx="571500" cy="0"/>
          </a:xfrm>
          <a:prstGeom xmlns:a="http://schemas.openxmlformats.org/drawingml/2006/main" prst="straightConnector1">
            <a:avLst/>
          </a:prstGeom>
          <a:ln xmlns:a="http://schemas.openxmlformats.org/drawingml/2006/main" w="19050">
            <a:solidFill>
              <a:srgbClr val="2464AB"/>
            </a:solidFill>
            <a:prstDash val="solid"/>
            <a:tailEnd type="arrow" w="sm" len="sm"/>
          </a:ln>
        </p:spPr>
      </p:cxnSp>
      <p:sp>
        <p:nvSpPr>
          <p:cNvPr id="43" name="">
            <a:extLst xmlns:a="http://schemas.openxmlformats.org/drawingml/2006/main">
              <a:ext uri="{FF2B5EF4-FFF2-40B4-BE49-F238E27FC236}">
                <a16:creationId xmlns:a16="http://schemas.microsoft.com/office/drawing/2014/main" id="{134A2E31-E2AF-437E-ACE6-FA645EF7FF3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Модули, ответственность и технологии</a:t>
            </a:r>
          </a:p>
        </p:txBody>
      </p:sp>
      <p:sp>
        <p:nvSpPr>
          <p:cNvPr id="2" name="">
            <a:extLst xmlns:a="http://schemas.openxmlformats.org/drawingml/2006/main">
              <a:ext uri="{FF2B5EF4-FFF2-40B4-BE49-F238E27FC236}">
                <a16:creationId xmlns:a16="http://schemas.microsoft.com/office/drawing/2014/main" id="{65D14D5F-C8B7-4E61-BDF7-4E7FC09DB78C}"/>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04</a:t>
            </a:r>
          </a:p>
        </p:txBody>
      </p:sp>
      <p:sp>
        <p:nvSpPr>
          <p:cNvPr id="3" name="Браузер">
            <a:extLst xmlns:a="http://schemas.openxmlformats.org/drawingml/2006/main">
              <a:ext uri="{FF2B5EF4-FFF2-40B4-BE49-F238E27FC236}">
                <a16:creationId xmlns:a16="http://schemas.microsoft.com/office/drawing/2014/main" id="{6943C5C6-52F2-4A9E-AB7D-0545BB515D70}"/>
              </a:ext>
            </a:extLst>
          </p:cNvPr>
          <p:cNvSpPr>
            <a:spLocks xmlns:a="http://schemas.openxmlformats.org/drawingml/2006/main" noGrp="1"/>
          </p:cNvSpPr>
          <p:nvPr/>
        </p:nvSpPr>
        <p:spPr>
          <a:xfrm xmlns:a="http://schemas.openxmlformats.org/drawingml/2006/main">
            <a:off x="609600" y="1619250"/>
            <a:ext cx="2286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4" name="">
            <a:extLst xmlns:a="http://schemas.openxmlformats.org/drawingml/2006/main">
              <a:ext uri="{FF2B5EF4-FFF2-40B4-BE49-F238E27FC236}">
                <a16:creationId xmlns:a16="http://schemas.microsoft.com/office/drawing/2014/main" id="{F600B243-BACD-4026-AC14-23D4D3911A0A}"/>
              </a:ext>
            </a:extLst>
          </p:cNvPr>
          <p:cNvSpPr>
            <a:spLocks xmlns:a="http://schemas.openxmlformats.org/drawingml/2006/main" noGrp="1"/>
          </p:cNvSpPr>
          <p:nvPr/>
        </p:nvSpPr>
        <p:spPr>
          <a:xfrm xmlns:a="http://schemas.openxmlformats.org/drawingml/2006/main">
            <a:off x="742950" y="17335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Браузер</a:t>
            </a:r>
          </a:p>
        </p:txBody>
      </p:sp>
      <p:sp>
        <p:nvSpPr>
          <p:cNvPr id="5" name="">
            <a:extLst xmlns:a="http://schemas.openxmlformats.org/drawingml/2006/main">
              <a:ext uri="{FF2B5EF4-FFF2-40B4-BE49-F238E27FC236}">
                <a16:creationId xmlns:a16="http://schemas.microsoft.com/office/drawing/2014/main" id="{F45A951F-990D-42D1-AAE1-11188914215A}"/>
              </a:ext>
            </a:extLst>
          </p:cNvPr>
          <p:cNvSpPr>
            <a:spLocks xmlns:a="http://schemas.openxmlformats.org/drawingml/2006/main" noGrp="1"/>
          </p:cNvSpPr>
          <p:nvPr/>
        </p:nvSpPr>
        <p:spPr>
          <a:xfrm xmlns:a="http://schemas.openxmlformats.org/drawingml/2006/main">
            <a:off x="742950" y="20764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HTML / CSS / JavaScript</a:t>
            </a:r>
          </a:p>
        </p:txBody>
      </p:sp>
      <p:sp>
        <p:nvSpPr>
          <p:cNvPr id="6" name="api.py">
            <a:extLst xmlns:a="http://schemas.openxmlformats.org/drawingml/2006/main">
              <a:ext uri="{FF2B5EF4-FFF2-40B4-BE49-F238E27FC236}">
                <a16:creationId xmlns:a16="http://schemas.microsoft.com/office/drawing/2014/main" id="{2E16C025-2838-4646-A3B5-0119D265C8AB}"/>
              </a:ext>
            </a:extLst>
          </p:cNvPr>
          <p:cNvSpPr>
            <a:spLocks xmlns:a="http://schemas.openxmlformats.org/drawingml/2006/main" noGrp="1"/>
          </p:cNvSpPr>
          <p:nvPr/>
        </p:nvSpPr>
        <p:spPr>
          <a:xfrm xmlns:a="http://schemas.openxmlformats.org/drawingml/2006/main">
            <a:off x="3467100" y="1619250"/>
            <a:ext cx="2286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7" name="">
            <a:extLst xmlns:a="http://schemas.openxmlformats.org/drawingml/2006/main">
              <a:ext uri="{FF2B5EF4-FFF2-40B4-BE49-F238E27FC236}">
                <a16:creationId xmlns:a16="http://schemas.microsoft.com/office/drawing/2014/main" id="{5BAC544A-D13C-4E5E-8FBF-AE19E1054DCF}"/>
              </a:ext>
            </a:extLst>
          </p:cNvPr>
          <p:cNvSpPr>
            <a:spLocks xmlns:a="http://schemas.openxmlformats.org/drawingml/2006/main" noGrp="1"/>
          </p:cNvSpPr>
          <p:nvPr/>
        </p:nvSpPr>
        <p:spPr>
          <a:xfrm xmlns:a="http://schemas.openxmlformats.org/drawingml/2006/main">
            <a:off x="3600450" y="17335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api.py</a:t>
            </a:r>
          </a:p>
        </p:txBody>
      </p:sp>
      <p:sp>
        <p:nvSpPr>
          <p:cNvPr id="8" name="">
            <a:extLst xmlns:a="http://schemas.openxmlformats.org/drawingml/2006/main">
              <a:ext uri="{FF2B5EF4-FFF2-40B4-BE49-F238E27FC236}">
                <a16:creationId xmlns:a16="http://schemas.microsoft.com/office/drawing/2014/main" id="{98E0369F-954A-4DF5-B05B-EF7DB9AB2D73}"/>
              </a:ext>
            </a:extLst>
          </p:cNvPr>
          <p:cNvSpPr>
            <a:spLocks xmlns:a="http://schemas.openxmlformats.org/drawingml/2006/main" noGrp="1"/>
          </p:cNvSpPr>
          <p:nvPr/>
        </p:nvSpPr>
        <p:spPr>
          <a:xfrm xmlns:a="http://schemas.openxmlformats.org/drawingml/2006/main">
            <a:off x="3600450" y="20764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FastAPI, HTTP, экспорт</a:t>
            </a:r>
          </a:p>
        </p:txBody>
      </p:sp>
      <p:sp>
        <p:nvSpPr>
          <p:cNvPr id="9" name="service.py">
            <a:extLst xmlns:a="http://schemas.openxmlformats.org/drawingml/2006/main">
              <a:ext uri="{FF2B5EF4-FFF2-40B4-BE49-F238E27FC236}">
                <a16:creationId xmlns:a16="http://schemas.microsoft.com/office/drawing/2014/main" id="{6F44AEDC-8DA1-4258-AC9B-85C5A0775B7B}"/>
              </a:ext>
            </a:extLst>
          </p:cNvPr>
          <p:cNvSpPr>
            <a:spLocks xmlns:a="http://schemas.openxmlformats.org/drawingml/2006/main" noGrp="1"/>
          </p:cNvSpPr>
          <p:nvPr/>
        </p:nvSpPr>
        <p:spPr>
          <a:xfrm xmlns:a="http://schemas.openxmlformats.org/drawingml/2006/main">
            <a:off x="6324600" y="1619250"/>
            <a:ext cx="22860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2464AB"/>
            </a:solidFill>
          </a:ln>
        </p:spPr>
      </p:sp>
      <p:sp>
        <p:nvSpPr>
          <p:cNvPr id="10" name="">
            <a:extLst xmlns:a="http://schemas.openxmlformats.org/drawingml/2006/main">
              <a:ext uri="{FF2B5EF4-FFF2-40B4-BE49-F238E27FC236}">
                <a16:creationId xmlns:a16="http://schemas.microsoft.com/office/drawing/2014/main" id="{94E90296-10A0-4C5E-B878-D15A3DCF0931}"/>
              </a:ext>
            </a:extLst>
          </p:cNvPr>
          <p:cNvSpPr>
            <a:spLocks xmlns:a="http://schemas.openxmlformats.org/drawingml/2006/main" noGrp="1"/>
          </p:cNvSpPr>
          <p:nvPr/>
        </p:nvSpPr>
        <p:spPr>
          <a:xfrm xmlns:a="http://schemas.openxmlformats.org/drawingml/2006/main">
            <a:off x="6457950" y="17335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service.py</a:t>
            </a:r>
          </a:p>
        </p:txBody>
      </p:sp>
      <p:sp>
        <p:nvSpPr>
          <p:cNvPr id="11" name="">
            <a:extLst xmlns:a="http://schemas.openxmlformats.org/drawingml/2006/main">
              <a:ext uri="{FF2B5EF4-FFF2-40B4-BE49-F238E27FC236}">
                <a16:creationId xmlns:a16="http://schemas.microsoft.com/office/drawing/2014/main" id="{6D8F7454-E739-42A6-B4AD-B5DB44497744}"/>
              </a:ext>
            </a:extLst>
          </p:cNvPr>
          <p:cNvSpPr>
            <a:spLocks xmlns:a="http://schemas.openxmlformats.org/drawingml/2006/main" noGrp="1"/>
          </p:cNvSpPr>
          <p:nvPr/>
        </p:nvSpPr>
        <p:spPr>
          <a:xfrm xmlns:a="http://schemas.openxmlformats.org/drawingml/2006/main">
            <a:off x="6457950" y="20764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12 оркестраторов, квоты</a:t>
            </a:r>
          </a:p>
        </p:txBody>
      </p:sp>
      <p:sp>
        <p:nvSpPr>
          <p:cNvPr id="12" name="store.py">
            <a:extLst xmlns:a="http://schemas.openxmlformats.org/drawingml/2006/main">
              <a:ext uri="{FF2B5EF4-FFF2-40B4-BE49-F238E27FC236}">
                <a16:creationId xmlns:a16="http://schemas.microsoft.com/office/drawing/2014/main" id="{CB97E268-160F-435E-ABBD-06D16CE9DFA8}"/>
              </a:ext>
            </a:extLst>
          </p:cNvPr>
          <p:cNvSpPr>
            <a:spLocks xmlns:a="http://schemas.openxmlformats.org/drawingml/2006/main" noGrp="1"/>
          </p:cNvSpPr>
          <p:nvPr/>
        </p:nvSpPr>
        <p:spPr>
          <a:xfrm xmlns:a="http://schemas.openxmlformats.org/drawingml/2006/main">
            <a:off x="9182100" y="1619250"/>
            <a:ext cx="2286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13" name="">
            <a:extLst xmlns:a="http://schemas.openxmlformats.org/drawingml/2006/main">
              <a:ext uri="{FF2B5EF4-FFF2-40B4-BE49-F238E27FC236}">
                <a16:creationId xmlns:a16="http://schemas.microsoft.com/office/drawing/2014/main" id="{4296862F-DA20-4353-83EB-29D7C938CAD3}"/>
              </a:ext>
            </a:extLst>
          </p:cNvPr>
          <p:cNvSpPr>
            <a:spLocks xmlns:a="http://schemas.openxmlformats.org/drawingml/2006/main" noGrp="1"/>
          </p:cNvSpPr>
          <p:nvPr/>
        </p:nvSpPr>
        <p:spPr>
          <a:xfrm xmlns:a="http://schemas.openxmlformats.org/drawingml/2006/main">
            <a:off x="9315450" y="17335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store.py</a:t>
            </a:r>
          </a:p>
        </p:txBody>
      </p:sp>
      <p:sp>
        <p:nvSpPr>
          <p:cNvPr id="14" name="">
            <a:extLst xmlns:a="http://schemas.openxmlformats.org/drawingml/2006/main">
              <a:ext uri="{FF2B5EF4-FFF2-40B4-BE49-F238E27FC236}">
                <a16:creationId xmlns:a16="http://schemas.microsoft.com/office/drawing/2014/main" id="{5E5432FF-10E3-4295-B2AF-F3D2C9EB3595}"/>
              </a:ext>
            </a:extLst>
          </p:cNvPr>
          <p:cNvSpPr>
            <a:spLocks xmlns:a="http://schemas.openxmlformats.org/drawingml/2006/main" noGrp="1"/>
          </p:cNvSpPr>
          <p:nvPr/>
        </p:nvSpPr>
        <p:spPr>
          <a:xfrm xmlns:a="http://schemas.openxmlformats.org/drawingml/2006/main">
            <a:off x="9315450" y="20764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SQLite WAL, checkpoint</a:t>
            </a:r>
          </a:p>
        </p:txBody>
      </p:sp>
      <p:sp>
        <p:nvSpPr>
          <p:cNvPr id="15" name="security.py">
            <a:extLst xmlns:a="http://schemas.openxmlformats.org/drawingml/2006/main">
              <a:ext uri="{FF2B5EF4-FFF2-40B4-BE49-F238E27FC236}">
                <a16:creationId xmlns:a16="http://schemas.microsoft.com/office/drawing/2014/main" id="{06931A5A-FDEA-40AF-B0FB-947CF2CD532F}"/>
              </a:ext>
            </a:extLst>
          </p:cNvPr>
          <p:cNvSpPr>
            <a:spLocks xmlns:a="http://schemas.openxmlformats.org/drawingml/2006/main" noGrp="1"/>
          </p:cNvSpPr>
          <p:nvPr/>
        </p:nvSpPr>
        <p:spPr>
          <a:xfrm xmlns:a="http://schemas.openxmlformats.org/drawingml/2006/main">
            <a:off x="3467100" y="3524250"/>
            <a:ext cx="2286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16" name="">
            <a:extLst xmlns:a="http://schemas.openxmlformats.org/drawingml/2006/main">
              <a:ext uri="{FF2B5EF4-FFF2-40B4-BE49-F238E27FC236}">
                <a16:creationId xmlns:a16="http://schemas.microsoft.com/office/drawing/2014/main" id="{0C692A46-CC17-4421-89A0-14A8865D87CE}"/>
              </a:ext>
            </a:extLst>
          </p:cNvPr>
          <p:cNvSpPr>
            <a:spLocks xmlns:a="http://schemas.openxmlformats.org/drawingml/2006/main" noGrp="1"/>
          </p:cNvSpPr>
          <p:nvPr/>
        </p:nvSpPr>
        <p:spPr>
          <a:xfrm xmlns:a="http://schemas.openxmlformats.org/drawingml/2006/main">
            <a:off x="3600450" y="36385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security.py</a:t>
            </a:r>
          </a:p>
        </p:txBody>
      </p:sp>
      <p:sp>
        <p:nvSpPr>
          <p:cNvPr id="17" name="">
            <a:extLst xmlns:a="http://schemas.openxmlformats.org/drawingml/2006/main">
              <a:ext uri="{FF2B5EF4-FFF2-40B4-BE49-F238E27FC236}">
                <a16:creationId xmlns:a16="http://schemas.microsoft.com/office/drawing/2014/main" id="{A25789B6-6B39-4E42-9970-574D05D94E49}"/>
              </a:ext>
            </a:extLst>
          </p:cNvPr>
          <p:cNvSpPr>
            <a:spLocks xmlns:a="http://schemas.openxmlformats.org/drawingml/2006/main" noGrp="1"/>
          </p:cNvSpPr>
          <p:nvPr/>
        </p:nvSpPr>
        <p:spPr>
          <a:xfrm xmlns:a="http://schemas.openxmlformats.org/drawingml/2006/main">
            <a:off x="3600450" y="39814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Роли и tenant/project</a:t>
            </a:r>
          </a:p>
        </p:txBody>
      </p:sp>
      <p:sp>
        <p:nvSpPr>
          <p:cNvPr id="18" name="compute.py">
            <a:extLst xmlns:a="http://schemas.openxmlformats.org/drawingml/2006/main">
              <a:ext uri="{FF2B5EF4-FFF2-40B4-BE49-F238E27FC236}">
                <a16:creationId xmlns:a16="http://schemas.microsoft.com/office/drawing/2014/main" id="{D70AFA4E-085D-4925-8A06-A22E54CD2C07}"/>
              </a:ext>
            </a:extLst>
          </p:cNvPr>
          <p:cNvSpPr>
            <a:spLocks xmlns:a="http://schemas.openxmlformats.org/drawingml/2006/main" noGrp="1"/>
          </p:cNvSpPr>
          <p:nvPr/>
        </p:nvSpPr>
        <p:spPr>
          <a:xfrm xmlns:a="http://schemas.openxmlformats.org/drawingml/2006/main">
            <a:off x="6324600" y="3524250"/>
            <a:ext cx="22860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2464AB"/>
            </a:solidFill>
          </a:ln>
        </p:spPr>
      </p:sp>
      <p:sp>
        <p:nvSpPr>
          <p:cNvPr id="19" name="">
            <a:extLst xmlns:a="http://schemas.openxmlformats.org/drawingml/2006/main">
              <a:ext uri="{FF2B5EF4-FFF2-40B4-BE49-F238E27FC236}">
                <a16:creationId xmlns:a16="http://schemas.microsoft.com/office/drawing/2014/main" id="{7945F24D-2FDD-49A8-8947-CEA6BCE5E82E}"/>
              </a:ext>
            </a:extLst>
          </p:cNvPr>
          <p:cNvSpPr>
            <a:spLocks xmlns:a="http://schemas.openxmlformats.org/drawingml/2006/main" noGrp="1"/>
          </p:cNvSpPr>
          <p:nvPr/>
        </p:nvSpPr>
        <p:spPr>
          <a:xfrm xmlns:a="http://schemas.openxmlformats.org/drawingml/2006/main">
            <a:off x="6457950" y="36385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compute.py</a:t>
            </a:r>
          </a:p>
        </p:txBody>
      </p:sp>
      <p:sp>
        <p:nvSpPr>
          <p:cNvPr id="20" name="">
            <a:extLst xmlns:a="http://schemas.openxmlformats.org/drawingml/2006/main">
              <a:ext uri="{FF2B5EF4-FFF2-40B4-BE49-F238E27FC236}">
                <a16:creationId xmlns:a16="http://schemas.microsoft.com/office/drawing/2014/main" id="{15869DA6-E73B-450A-AAE7-8964C3B4E211}"/>
              </a:ext>
            </a:extLst>
          </p:cNvPr>
          <p:cNvSpPr>
            <a:spLocks xmlns:a="http://schemas.openxmlformats.org/drawingml/2006/main" noGrp="1"/>
          </p:cNvSpPr>
          <p:nvPr/>
        </p:nvSpPr>
        <p:spPr>
          <a:xfrm xmlns:a="http://schemas.openxmlformats.org/drawingml/2006/main">
            <a:off x="6457950" y="39814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spawn, отдельный процесс</a:t>
            </a:r>
          </a:p>
        </p:txBody>
      </p:sp>
      <p:sp>
        <p:nvSpPr>
          <p:cNvPr id="21" name="llm.py">
            <a:extLst xmlns:a="http://schemas.openxmlformats.org/drawingml/2006/main">
              <a:ext uri="{FF2B5EF4-FFF2-40B4-BE49-F238E27FC236}">
                <a16:creationId xmlns:a16="http://schemas.microsoft.com/office/drawing/2014/main" id="{BEE53BF9-95F9-4F84-95C1-1C6BB46454CF}"/>
              </a:ext>
            </a:extLst>
          </p:cNvPr>
          <p:cNvSpPr>
            <a:spLocks xmlns:a="http://schemas.openxmlformats.org/drawingml/2006/main" noGrp="1"/>
          </p:cNvSpPr>
          <p:nvPr/>
        </p:nvSpPr>
        <p:spPr>
          <a:xfrm xmlns:a="http://schemas.openxmlformats.org/drawingml/2006/main">
            <a:off x="9182100" y="3524250"/>
            <a:ext cx="2286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22" name="">
            <a:extLst xmlns:a="http://schemas.openxmlformats.org/drawingml/2006/main">
              <a:ext uri="{FF2B5EF4-FFF2-40B4-BE49-F238E27FC236}">
                <a16:creationId xmlns:a16="http://schemas.microsoft.com/office/drawing/2014/main" id="{4137B7FF-3443-44CB-AF2F-09882EC479AF}"/>
              </a:ext>
            </a:extLst>
          </p:cNvPr>
          <p:cNvSpPr>
            <a:spLocks xmlns:a="http://schemas.openxmlformats.org/drawingml/2006/main" noGrp="1"/>
          </p:cNvSpPr>
          <p:nvPr/>
        </p:nvSpPr>
        <p:spPr>
          <a:xfrm xmlns:a="http://schemas.openxmlformats.org/drawingml/2006/main">
            <a:off x="9315450" y="36385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llm.py</a:t>
            </a:r>
          </a:p>
        </p:txBody>
      </p:sp>
      <p:sp>
        <p:nvSpPr>
          <p:cNvPr id="23" name="">
            <a:extLst xmlns:a="http://schemas.openxmlformats.org/drawingml/2006/main">
              <a:ext uri="{FF2B5EF4-FFF2-40B4-BE49-F238E27FC236}">
                <a16:creationId xmlns:a16="http://schemas.microsoft.com/office/drawing/2014/main" id="{004FCCF1-2D0E-49CA-9144-9722EAFC1892}"/>
              </a:ext>
            </a:extLst>
          </p:cNvPr>
          <p:cNvSpPr>
            <a:spLocks xmlns:a="http://schemas.openxmlformats.org/drawingml/2006/main" noGrp="1"/>
          </p:cNvSpPr>
          <p:nvPr/>
        </p:nvSpPr>
        <p:spPr>
          <a:xfrm xmlns:a="http://schemas.openxmlformats.org/drawingml/2006/main">
            <a:off x="9315450" y="39814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Qwen3 FP16, ROCm</a:t>
            </a:r>
          </a:p>
        </p:txBody>
      </p:sp>
      <p:sp>
        <p:nvSpPr>
          <p:cNvPr id="24" name="engine.py">
            <a:extLst xmlns:a="http://schemas.openxmlformats.org/drawingml/2006/main">
              <a:ext uri="{FF2B5EF4-FFF2-40B4-BE49-F238E27FC236}">
                <a16:creationId xmlns:a16="http://schemas.microsoft.com/office/drawing/2014/main" id="{4053D224-8A1D-4088-A9F2-7535C2AECAB9}"/>
              </a:ext>
            </a:extLst>
          </p:cNvPr>
          <p:cNvSpPr>
            <a:spLocks xmlns:a="http://schemas.openxmlformats.org/drawingml/2006/main" noGrp="1"/>
          </p:cNvSpPr>
          <p:nvPr/>
        </p:nvSpPr>
        <p:spPr>
          <a:xfrm xmlns:a="http://schemas.openxmlformats.org/drawingml/2006/main">
            <a:off x="6324600" y="5238750"/>
            <a:ext cx="2286000" cy="952500"/>
          </a:xfrm>
          <a:prstGeom xmlns:a="http://schemas.openxmlformats.org/drawingml/2006/main" prst="rect">
            <a:avLst/>
          </a:prstGeom>
          <a:solidFill xmlns:a="http://schemas.openxmlformats.org/drawingml/2006/main">
            <a:srgbClr val="EDF3F9"/>
          </a:solidFill>
          <a:ln xmlns:a="http://schemas.openxmlformats.org/drawingml/2006/main" w="14288">
            <a:solidFill>
              <a:srgbClr val="2464AB"/>
            </a:solidFill>
          </a:ln>
        </p:spPr>
      </p:sp>
      <p:sp>
        <p:nvSpPr>
          <p:cNvPr id="25" name="">
            <a:extLst xmlns:a="http://schemas.openxmlformats.org/drawingml/2006/main">
              <a:ext uri="{FF2B5EF4-FFF2-40B4-BE49-F238E27FC236}">
                <a16:creationId xmlns:a16="http://schemas.microsoft.com/office/drawing/2014/main" id="{E5863895-2DE1-4A07-9412-738CB08A8BC6}"/>
              </a:ext>
            </a:extLst>
          </p:cNvPr>
          <p:cNvSpPr>
            <a:spLocks xmlns:a="http://schemas.openxmlformats.org/drawingml/2006/main" noGrp="1"/>
          </p:cNvSpPr>
          <p:nvPr/>
        </p:nvSpPr>
        <p:spPr>
          <a:xfrm xmlns:a="http://schemas.openxmlformats.org/drawingml/2006/main">
            <a:off x="6457950" y="53530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engine.py</a:t>
            </a:r>
          </a:p>
        </p:txBody>
      </p:sp>
      <p:sp>
        <p:nvSpPr>
          <p:cNvPr id="26" name="">
            <a:extLst xmlns:a="http://schemas.openxmlformats.org/drawingml/2006/main">
              <a:ext uri="{FF2B5EF4-FFF2-40B4-BE49-F238E27FC236}">
                <a16:creationId xmlns:a16="http://schemas.microsoft.com/office/drawing/2014/main" id="{E00CDABE-0501-4B1A-B065-9ABF99FB5E8D}"/>
              </a:ext>
            </a:extLst>
          </p:cNvPr>
          <p:cNvSpPr>
            <a:spLocks xmlns:a="http://schemas.openxmlformats.org/drawingml/2006/main" noGrp="1"/>
          </p:cNvSpPr>
          <p:nvPr/>
        </p:nvSpPr>
        <p:spPr>
          <a:xfrm xmlns:a="http://schemas.openxmlformats.org/drawingml/2006/main">
            <a:off x="6457950" y="5695950"/>
            <a:ext cx="2019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Навыки, баллы, цитаты</a:t>
            </a:r>
          </a:p>
        </p:txBody>
      </p:sp>
      <p:sp>
        <p:nvSpPr>
          <p:cNvPr id="27" name="semantic.py">
            <a:extLst xmlns:a="http://schemas.openxmlformats.org/drawingml/2006/main">
              <a:ext uri="{FF2B5EF4-FFF2-40B4-BE49-F238E27FC236}">
                <a16:creationId xmlns:a16="http://schemas.microsoft.com/office/drawing/2014/main" id="{D2239F88-337D-45BA-A60A-7054F331A056}"/>
              </a:ext>
            </a:extLst>
          </p:cNvPr>
          <p:cNvSpPr>
            <a:spLocks xmlns:a="http://schemas.openxmlformats.org/drawingml/2006/main" noGrp="1"/>
          </p:cNvSpPr>
          <p:nvPr/>
        </p:nvSpPr>
        <p:spPr>
          <a:xfrm xmlns:a="http://schemas.openxmlformats.org/drawingml/2006/main">
            <a:off x="9182100" y="5238750"/>
            <a:ext cx="22860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28" name="">
            <a:extLst xmlns:a="http://schemas.openxmlformats.org/drawingml/2006/main">
              <a:ext uri="{FF2B5EF4-FFF2-40B4-BE49-F238E27FC236}">
                <a16:creationId xmlns:a16="http://schemas.microsoft.com/office/drawing/2014/main" id="{900336BA-C8AA-4B99-93F8-DE78B5EE2B64}"/>
              </a:ext>
            </a:extLst>
          </p:cNvPr>
          <p:cNvSpPr>
            <a:spLocks xmlns:a="http://schemas.openxmlformats.org/drawingml/2006/main" noGrp="1"/>
          </p:cNvSpPr>
          <p:nvPr/>
        </p:nvSpPr>
        <p:spPr>
          <a:xfrm xmlns:a="http://schemas.openxmlformats.org/drawingml/2006/main">
            <a:off x="9315450" y="53530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semantic.py</a:t>
            </a:r>
          </a:p>
        </p:txBody>
      </p:sp>
      <p:sp>
        <p:nvSpPr>
          <p:cNvPr id="29" name="">
            <a:extLst xmlns:a="http://schemas.openxmlformats.org/drawingml/2006/main">
              <a:ext uri="{FF2B5EF4-FFF2-40B4-BE49-F238E27FC236}">
                <a16:creationId xmlns:a16="http://schemas.microsoft.com/office/drawing/2014/main" id="{422DB635-4095-48AD-BC9B-13E2F02D78C8}"/>
              </a:ext>
            </a:extLst>
          </p:cNvPr>
          <p:cNvSpPr>
            <a:spLocks xmlns:a="http://schemas.openxmlformats.org/drawingml/2006/main" noGrp="1"/>
          </p:cNvSpPr>
          <p:nvPr/>
        </p:nvSpPr>
        <p:spPr>
          <a:xfrm xmlns:a="http://schemas.openxmlformats.org/drawingml/2006/main">
            <a:off x="9315450" y="5695950"/>
            <a:ext cx="2019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MiniLM FP16, PyTorch</a:t>
            </a:r>
          </a:p>
        </p:txBody>
      </p:sp>
      <p:sp>
        <p:nvSpPr>
          <p:cNvPr id="30" name="documents.py">
            <a:extLst xmlns:a="http://schemas.openxmlformats.org/drawingml/2006/main">
              <a:ext uri="{FF2B5EF4-FFF2-40B4-BE49-F238E27FC236}">
                <a16:creationId xmlns:a16="http://schemas.microsoft.com/office/drawing/2014/main" id="{B0964E4B-FDDA-49BC-AC95-1D21541C70DD}"/>
              </a:ext>
            </a:extLst>
          </p:cNvPr>
          <p:cNvSpPr>
            <a:spLocks xmlns:a="http://schemas.openxmlformats.org/drawingml/2006/main" noGrp="1"/>
          </p:cNvSpPr>
          <p:nvPr/>
        </p:nvSpPr>
        <p:spPr>
          <a:xfrm xmlns:a="http://schemas.openxmlformats.org/drawingml/2006/main">
            <a:off x="609600" y="5238750"/>
            <a:ext cx="22860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BD7E3"/>
            </a:solidFill>
          </a:ln>
        </p:spPr>
      </p:sp>
      <p:sp>
        <p:nvSpPr>
          <p:cNvPr id="31" name="">
            <a:extLst xmlns:a="http://schemas.openxmlformats.org/drawingml/2006/main">
              <a:ext uri="{FF2B5EF4-FFF2-40B4-BE49-F238E27FC236}">
                <a16:creationId xmlns:a16="http://schemas.microsoft.com/office/drawing/2014/main" id="{8B42DEF8-353A-46AA-9CF4-D1E19C91AE8E}"/>
              </a:ext>
            </a:extLst>
          </p:cNvPr>
          <p:cNvSpPr>
            <a:spLocks xmlns:a="http://schemas.openxmlformats.org/drawingml/2006/main" noGrp="1"/>
          </p:cNvSpPr>
          <p:nvPr/>
        </p:nvSpPr>
        <p:spPr>
          <a:xfrm xmlns:a="http://schemas.openxmlformats.org/drawingml/2006/main">
            <a:off x="742950" y="53530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6"/>
                </a:solidFill>
                <a:latin typeface="DejaVu Sans"/>
                <a:ea typeface="DejaVu Sans"/>
                <a:cs typeface="DejaVu Sans"/>
              </a:defRPr>
            </a:defPPr>
          </a:lstStyle>
          <a:p xmlns:a="http://schemas.openxmlformats.org/drawingml/2006/main">
            <a:pPr algn="l">
              <a:defRPr sz="1725" b="1">
                <a:solidFill>
                  <a:srgbClr val="142B46"/>
                </a:solidFill>
                <a:latin typeface="DejaVu Sans"/>
                <a:ea typeface="DejaVu Sans"/>
                <a:cs typeface="DejaVu Sans"/>
              </a:defRPr>
            </a:pPr>
            <a:r>
              <a:rPr sz="1725" b="1">
                <a:solidFill>
                  <a:srgbClr val="142B46"/>
                </a:solidFill>
                <a:latin typeface="DejaVu Sans"/>
                <a:ea typeface="DejaVu Sans"/>
                <a:cs typeface="DejaVu Sans"/>
              </a:rPr>
              <a:t>documents.py</a:t>
            </a:r>
          </a:p>
        </p:txBody>
      </p:sp>
      <p:sp>
        <p:nvSpPr>
          <p:cNvPr id="32" name="">
            <a:extLst xmlns:a="http://schemas.openxmlformats.org/drawingml/2006/main">
              <a:ext uri="{FF2B5EF4-FFF2-40B4-BE49-F238E27FC236}">
                <a16:creationId xmlns:a16="http://schemas.microsoft.com/office/drawing/2014/main" id="{C89784B8-7364-42A2-AF3D-0AE85318EA07}"/>
              </a:ext>
            </a:extLst>
          </p:cNvPr>
          <p:cNvSpPr>
            <a:spLocks xmlns:a="http://schemas.openxmlformats.org/drawingml/2006/main" noGrp="1"/>
          </p:cNvSpPr>
          <p:nvPr/>
        </p:nvSpPr>
        <p:spPr>
          <a:xfrm xmlns:a="http://schemas.openxmlformats.org/drawingml/2006/main">
            <a:off x="742950" y="5695950"/>
            <a:ext cx="2019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F6173"/>
                </a:solidFill>
                <a:latin typeface="DejaVu Sans"/>
                <a:ea typeface="DejaVu Sans"/>
                <a:cs typeface="DejaVu Sans"/>
              </a:defRPr>
            </a:defPPr>
          </a:lstStyle>
          <a:p xmlns:a="http://schemas.openxmlformats.org/drawingml/2006/main">
            <a:pPr algn="l">
              <a:defRPr sz="1500" b="0">
                <a:solidFill>
                  <a:srgbClr val="4F6173"/>
                </a:solidFill>
                <a:latin typeface="DejaVu Sans"/>
                <a:ea typeface="DejaVu Sans"/>
                <a:cs typeface="DejaVu Sans"/>
              </a:defRPr>
            </a:pPr>
            <a:r>
              <a:rPr sz="1500" b="0">
                <a:solidFill>
                  <a:srgbClr val="4F6173"/>
                </a:solidFill>
                <a:latin typeface="DejaVu Sans"/>
                <a:ea typeface="DejaVu Sans"/>
                <a:cs typeface="DejaVu Sans"/>
              </a:rPr>
              <a:t>pypdf, лимиты</a:t>
            </a:r>
          </a:p>
        </p:txBody>
      </p:sp>
      <p:sp>
        <p:nvSpPr>
          <p:cNvPr id="42" name="">
            <a:extLst xmlns:a="http://schemas.openxmlformats.org/drawingml/2006/main">
              <a:ext uri="{FF2B5EF4-FFF2-40B4-BE49-F238E27FC236}">
                <a16:creationId xmlns:a16="http://schemas.microsoft.com/office/drawing/2014/main" id="{49CBC803-077F-4464-A629-9818BC4047BA}"/>
              </a:ext>
            </a:extLst>
          </p:cNvPr>
          <p:cNvSpPr>
            <a:spLocks xmlns:a="http://schemas.openxmlformats.org/drawingml/2006/main" noGrp="1"/>
          </p:cNvSpPr>
          <p:nvPr/>
        </p:nvSpPr>
        <p:spPr>
          <a:xfrm xmlns:a="http://schemas.openxmlformats.org/drawingml/2006/main">
            <a:off x="609600" y="3524250"/>
            <a:ext cx="257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F6173"/>
                </a:solidFill>
                <a:latin typeface="DejaVu Sans"/>
                <a:ea typeface="DejaVu Sans"/>
                <a:cs typeface="DejaVu Sans"/>
              </a:defRPr>
            </a:defPPr>
          </a:lstStyle>
          <a:p xmlns:a="http://schemas.openxmlformats.org/drawingml/2006/main">
            <a:pPr algn="l">
              <a:defRPr sz="1875" b="0">
                <a:solidFill>
                  <a:srgbClr val="4F6173"/>
                </a:solidFill>
                <a:latin typeface="DejaVu Sans"/>
                <a:ea typeface="DejaVu Sans"/>
                <a:cs typeface="DejaVu Sans"/>
              </a:defRPr>
            </a:pPr>
            <a:r>
              <a:rPr sz="1875" b="0">
                <a:solidFill>
                  <a:srgbClr val="4F6173"/>
                </a:solidFill>
                <a:latin typeface="DejaVu Sans"/>
                <a:ea typeface="DejaVu Sans"/>
                <a:cs typeface="DejaVu Sans"/>
              </a:rPr>
              <a:t>Вычислитель без</a:t>
            </a:r>
          </a:p>
          <a:p xmlns:a="http://schemas.openxmlformats.org/drawingml/2006/main">
            <a:pPr algn="l">
              <a:defRPr sz="1875" b="0">
                <a:solidFill>
                  <a:srgbClr val="4F6173"/>
                </a:solidFill>
                <a:latin typeface="DejaVu Sans"/>
                <a:ea typeface="DejaVu Sans"/>
                <a:cs typeface="DejaVu Sans"/>
              </a:defRPr>
            </a:pPr>
            <a:r>
              <a:rPr sz="1875" b="0">
                <a:solidFill>
                  <a:srgbClr val="4F6173"/>
                </a:solidFill>
                <a:latin typeface="DejaVu Sans"/>
                <a:ea typeface="DejaVu Sans"/>
                <a:cs typeface="DejaVu Sans"/>
              </a:rPr>
              <a:t>Store и HTTP</a:t>
            </a:r>
          </a:p>
          <a:p xmlns:a="http://schemas.openxmlformats.org/drawingml/2006/main">
            <a:pPr algn="l">
              <a:defRPr sz="1875" b="0">
                <a:solidFill>
                  <a:srgbClr val="4F6173"/>
                </a:solidFill>
                <a:latin typeface="DejaVu Sans"/>
                <a:ea typeface="DejaVu Sans"/>
                <a:cs typeface="DejaVu Sans"/>
              </a:defRPr>
            </a:pPr>
            <a:r>
              <a:rPr sz="1875" b="0">
                <a:solidFill>
                  <a:srgbClr val="4F6173"/>
                </a:solidFill>
                <a:latin typeface="DejaVu Sans"/>
                <a:ea typeface="DejaVu Sans"/>
                <a:cs typeface="DejaVu Sans"/>
              </a:rPr>
              <a:t>GPU: 1 процесс</a:t>
            </a:r>
          </a:p>
          <a:p xmlns:a="http://schemas.openxmlformats.org/drawingml/2006/main">
            <a:pPr algn="l">
              <a:defRPr sz="1875" b="0">
                <a:solidFill>
                  <a:srgbClr val="4F6173"/>
                </a:solidFill>
                <a:latin typeface="DejaVu Sans"/>
                <a:ea typeface="DejaVu Sans"/>
                <a:cs typeface="DejaVu Sans"/>
              </a:defRPr>
            </a:pPr>
            <a:r>
              <a:rPr sz="1875" b="0">
                <a:solidFill>
                  <a:srgbClr val="4F6173"/>
                </a:solidFill>
                <a:latin typeface="DejaVu Sans"/>
                <a:ea typeface="DejaVu Sans"/>
                <a:cs typeface="DejaVu Sans"/>
              </a:rPr>
              <a:t>CPU: до 4 процессов</a:t>
            </a:r>
          </a:p>
        </p:txBody>
      </p:sp>
    </p:spTree>
    <p:extLst>
      <p:ext uri="{BB962C8B-B14F-4D97-AF65-F5344CB8AC3E}">
        <p14:creationId xmlns:p14="http://schemas.microsoft.com/office/powerpoint/2010/main" val="7296392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8656A56-1831-4B4A-9110-253AD62A74B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Выполнение и устойчивые точки</a:t>
            </a:r>
          </a:p>
        </p:txBody>
      </p:sp>
      <p:sp>
        <p:nvSpPr>
          <p:cNvPr id="2" name="">
            <a:extLst xmlns:a="http://schemas.openxmlformats.org/drawingml/2006/main">
              <a:ext uri="{FF2B5EF4-FFF2-40B4-BE49-F238E27FC236}">
                <a16:creationId xmlns:a16="http://schemas.microsoft.com/office/drawing/2014/main" id="{AB66FD02-0C0A-400D-AD6B-A380EA903FD7}"/>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F8A32551-6029-4932-9ED0-BED1AC27080C}"/>
              </a:ext>
            </a:extLst>
          </p:cNvPr>
          <p:cNvSpPr>
            <a:spLocks xmlns:a="http://schemas.openxmlformats.org/drawingml/2006/main" noGrp="1"/>
          </p:cNvSpPr>
          <p:nvPr/>
        </p:nvSpPr>
        <p:spPr>
          <a:xfrm xmlns:a="http://schemas.openxmlformats.org/drawingml/2006/main">
            <a:off x="381000" y="1428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42B46"/>
                </a:solidFill>
                <a:latin typeface="DejaVu Sans"/>
                <a:ea typeface="DejaVu Sans"/>
                <a:cs typeface="DejaVu Sans"/>
              </a:defRPr>
            </a:defPPr>
          </a:lstStyle>
          <a:p xmlns:a="http://schemas.openxmlformats.org/drawingml/2006/main">
            <a:pPr algn="ctr">
              <a:defRPr sz="2100" b="1">
                <a:solidFill>
                  <a:srgbClr val="142B46"/>
                </a:solidFill>
                <a:latin typeface="DejaVu Sans"/>
                <a:ea typeface="DejaVu Sans"/>
                <a:cs typeface="DejaVu Sans"/>
              </a:defRPr>
            </a:pPr>
            <a:r>
              <a:rPr sz="2100" b="1">
                <a:solidFill>
                  <a:srgbClr val="142B46"/>
                </a:solidFill>
                <a:latin typeface="DejaVu Sans"/>
                <a:ea typeface="DejaVu Sans"/>
                <a:cs typeface="DejaVu Sans"/>
              </a:rPr>
              <a:t>Рекрутер</a:t>
            </a:r>
          </a:p>
        </p:txBody>
      </p:sp>
      <p:sp>
        <p:nvSpPr>
          <p:cNvPr id="4" name="">
            <a:extLst xmlns:a="http://schemas.openxmlformats.org/drawingml/2006/main">
              <a:ext uri="{FF2B5EF4-FFF2-40B4-BE49-F238E27FC236}">
                <a16:creationId xmlns:a16="http://schemas.microsoft.com/office/drawing/2014/main" id="{BC15A517-6F1B-4DF7-8820-F76E6C68BB01}"/>
              </a:ext>
            </a:extLst>
          </p:cNvPr>
          <p:cNvSpPr>
            <a:spLocks xmlns:a="http://schemas.openxmlformats.org/drawingml/2006/main" noGrp="1"/>
          </p:cNvSpPr>
          <p:nvPr/>
        </p:nvSpPr>
        <p:spPr>
          <a:xfrm xmlns:a="http://schemas.openxmlformats.org/drawingml/2006/main">
            <a:off x="1333500" y="1952625"/>
            <a:ext cx="0" cy="3714750"/>
          </a:xfrm>
          <a:prstGeom xmlns:a="http://schemas.openxmlformats.org/drawingml/2006/main" prst="line">
            <a:avLst/>
          </a:prstGeom>
          <a:noFill xmlns:a="http://schemas.openxmlformats.org/drawingml/2006/main"/>
          <a:ln xmlns:a="http://schemas.openxmlformats.org/drawingml/2006/main" w="11430">
            <a:solidFill>
              <a:srgbClr val="CBD7E3"/>
            </a:solidFill>
          </a:ln>
        </p:spPr>
      </p:sp>
      <p:sp>
        <p:nvSpPr>
          <p:cNvPr id="5" name="">
            <a:extLst xmlns:a="http://schemas.openxmlformats.org/drawingml/2006/main">
              <a:ext uri="{FF2B5EF4-FFF2-40B4-BE49-F238E27FC236}">
                <a16:creationId xmlns:a16="http://schemas.microsoft.com/office/drawing/2014/main" id="{39ECA705-E77F-418B-91E0-D31CCFF0AD7F}"/>
              </a:ext>
            </a:extLst>
          </p:cNvPr>
          <p:cNvSpPr>
            <a:spLocks xmlns:a="http://schemas.openxmlformats.org/drawingml/2006/main" noGrp="1"/>
          </p:cNvSpPr>
          <p:nvPr/>
        </p:nvSpPr>
        <p:spPr>
          <a:xfrm xmlns:a="http://schemas.openxmlformats.org/drawingml/2006/main">
            <a:off x="3381375" y="1428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42B46"/>
                </a:solidFill>
                <a:latin typeface="DejaVu Sans"/>
                <a:ea typeface="DejaVu Sans"/>
                <a:cs typeface="DejaVu Sans"/>
              </a:defRPr>
            </a:defPPr>
          </a:lstStyle>
          <a:p xmlns:a="http://schemas.openxmlformats.org/drawingml/2006/main">
            <a:pPr algn="ctr">
              <a:defRPr sz="2100" b="1">
                <a:solidFill>
                  <a:srgbClr val="142B46"/>
                </a:solidFill>
                <a:latin typeface="DejaVu Sans"/>
                <a:ea typeface="DejaVu Sans"/>
                <a:cs typeface="DejaVu Sans"/>
              </a:defRPr>
            </a:pPr>
            <a:r>
              <a:rPr sz="2100" b="1">
                <a:solidFill>
                  <a:srgbClr val="142B46"/>
                </a:solidFill>
                <a:latin typeface="DejaVu Sans"/>
                <a:ea typeface="DejaVu Sans"/>
                <a:cs typeface="DejaVu Sans"/>
              </a:rPr>
              <a:t>API</a:t>
            </a:r>
          </a:p>
        </p:txBody>
      </p:sp>
      <p:sp>
        <p:nvSpPr>
          <p:cNvPr id="6" name="">
            <a:extLst xmlns:a="http://schemas.openxmlformats.org/drawingml/2006/main">
              <a:ext uri="{FF2B5EF4-FFF2-40B4-BE49-F238E27FC236}">
                <a16:creationId xmlns:a16="http://schemas.microsoft.com/office/drawing/2014/main" id="{4A806267-9F03-41B2-BEE6-7CE7464739F6}"/>
              </a:ext>
            </a:extLst>
          </p:cNvPr>
          <p:cNvSpPr>
            <a:spLocks xmlns:a="http://schemas.openxmlformats.org/drawingml/2006/main" noGrp="1"/>
          </p:cNvSpPr>
          <p:nvPr/>
        </p:nvSpPr>
        <p:spPr>
          <a:xfrm xmlns:a="http://schemas.openxmlformats.org/drawingml/2006/main">
            <a:off x="4333875" y="1952625"/>
            <a:ext cx="0" cy="3714750"/>
          </a:xfrm>
          <a:prstGeom xmlns:a="http://schemas.openxmlformats.org/drawingml/2006/main" prst="line">
            <a:avLst/>
          </a:prstGeom>
          <a:noFill xmlns:a="http://schemas.openxmlformats.org/drawingml/2006/main"/>
          <a:ln xmlns:a="http://schemas.openxmlformats.org/drawingml/2006/main" w="11430">
            <a:solidFill>
              <a:srgbClr val="CBD7E3"/>
            </a:solidFill>
          </a:ln>
        </p:spPr>
      </p:sp>
      <p:sp>
        <p:nvSpPr>
          <p:cNvPr id="7" name="">
            <a:extLst xmlns:a="http://schemas.openxmlformats.org/drawingml/2006/main">
              <a:ext uri="{FF2B5EF4-FFF2-40B4-BE49-F238E27FC236}">
                <a16:creationId xmlns:a16="http://schemas.microsoft.com/office/drawing/2014/main" id="{C036C813-15E2-444A-8887-AF5E9955325C}"/>
              </a:ext>
            </a:extLst>
          </p:cNvPr>
          <p:cNvSpPr>
            <a:spLocks xmlns:a="http://schemas.openxmlformats.org/drawingml/2006/main" noGrp="1"/>
          </p:cNvSpPr>
          <p:nvPr/>
        </p:nvSpPr>
        <p:spPr>
          <a:xfrm xmlns:a="http://schemas.openxmlformats.org/drawingml/2006/main">
            <a:off x="6381750" y="1428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42B46"/>
                </a:solidFill>
                <a:latin typeface="DejaVu Sans"/>
                <a:ea typeface="DejaVu Sans"/>
                <a:cs typeface="DejaVu Sans"/>
              </a:defRPr>
            </a:defPPr>
          </a:lstStyle>
          <a:p xmlns:a="http://schemas.openxmlformats.org/drawingml/2006/main">
            <a:pPr algn="ctr">
              <a:defRPr sz="2100" b="1">
                <a:solidFill>
                  <a:srgbClr val="142B46"/>
                </a:solidFill>
                <a:latin typeface="DejaVu Sans"/>
                <a:ea typeface="DejaVu Sans"/>
                <a:cs typeface="DejaVu Sans"/>
              </a:defRPr>
            </a:pPr>
            <a:r>
              <a:rPr sz="2100" b="1">
                <a:solidFill>
                  <a:srgbClr val="142B46"/>
                </a:solidFill>
                <a:latin typeface="DejaVu Sans"/>
                <a:ea typeface="DejaVu Sans"/>
                <a:cs typeface="DejaVu Sans"/>
              </a:rPr>
              <a:t>Service</a:t>
            </a:r>
          </a:p>
        </p:txBody>
      </p:sp>
      <p:sp>
        <p:nvSpPr>
          <p:cNvPr id="8" name="">
            <a:extLst xmlns:a="http://schemas.openxmlformats.org/drawingml/2006/main">
              <a:ext uri="{FF2B5EF4-FFF2-40B4-BE49-F238E27FC236}">
                <a16:creationId xmlns:a16="http://schemas.microsoft.com/office/drawing/2014/main" id="{6C0F6CEE-2288-4AE4-9F91-EBEA66F96C27}"/>
              </a:ext>
            </a:extLst>
          </p:cNvPr>
          <p:cNvSpPr>
            <a:spLocks xmlns:a="http://schemas.openxmlformats.org/drawingml/2006/main" noGrp="1"/>
          </p:cNvSpPr>
          <p:nvPr/>
        </p:nvSpPr>
        <p:spPr>
          <a:xfrm xmlns:a="http://schemas.openxmlformats.org/drawingml/2006/main">
            <a:off x="7334250" y="1952625"/>
            <a:ext cx="0" cy="3714750"/>
          </a:xfrm>
          <a:prstGeom xmlns:a="http://schemas.openxmlformats.org/drawingml/2006/main" prst="line">
            <a:avLst/>
          </a:prstGeom>
          <a:noFill xmlns:a="http://schemas.openxmlformats.org/drawingml/2006/main"/>
          <a:ln xmlns:a="http://schemas.openxmlformats.org/drawingml/2006/main" w="11430">
            <a:solidFill>
              <a:srgbClr val="CBD7E3"/>
            </a:solidFill>
          </a:ln>
        </p:spPr>
      </p:sp>
      <p:sp>
        <p:nvSpPr>
          <p:cNvPr id="9" name="">
            <a:extLst xmlns:a="http://schemas.openxmlformats.org/drawingml/2006/main">
              <a:ext uri="{FF2B5EF4-FFF2-40B4-BE49-F238E27FC236}">
                <a16:creationId xmlns:a16="http://schemas.microsoft.com/office/drawing/2014/main" id="{DDE54D01-53CE-48AD-A565-9475DB5BD7E6}"/>
              </a:ext>
            </a:extLst>
          </p:cNvPr>
          <p:cNvSpPr>
            <a:spLocks xmlns:a="http://schemas.openxmlformats.org/drawingml/2006/main" noGrp="1"/>
          </p:cNvSpPr>
          <p:nvPr/>
        </p:nvSpPr>
        <p:spPr>
          <a:xfrm xmlns:a="http://schemas.openxmlformats.org/drawingml/2006/main">
            <a:off x="9620250" y="14287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42B46"/>
                </a:solidFill>
                <a:latin typeface="DejaVu Sans"/>
                <a:ea typeface="DejaVu Sans"/>
                <a:cs typeface="DejaVu Sans"/>
              </a:defRPr>
            </a:defPPr>
          </a:lstStyle>
          <a:p xmlns:a="http://schemas.openxmlformats.org/drawingml/2006/main">
            <a:pPr algn="ctr">
              <a:defRPr sz="2100" b="1">
                <a:solidFill>
                  <a:srgbClr val="142B46"/>
                </a:solidFill>
                <a:latin typeface="DejaVu Sans"/>
                <a:ea typeface="DejaVu Sans"/>
                <a:cs typeface="DejaVu Sans"/>
              </a:defRPr>
            </a:pPr>
            <a:r>
              <a:rPr sz="2100" b="1">
                <a:solidFill>
                  <a:srgbClr val="142B46"/>
                </a:solidFill>
                <a:latin typeface="DejaVu Sans"/>
                <a:ea typeface="DejaVu Sans"/>
                <a:cs typeface="DejaVu Sans"/>
              </a:rPr>
              <a:t>Store</a:t>
            </a:r>
          </a:p>
        </p:txBody>
      </p:sp>
      <p:sp>
        <p:nvSpPr>
          <p:cNvPr id="10" name="">
            <a:extLst xmlns:a="http://schemas.openxmlformats.org/drawingml/2006/main">
              <a:ext uri="{FF2B5EF4-FFF2-40B4-BE49-F238E27FC236}">
                <a16:creationId xmlns:a16="http://schemas.microsoft.com/office/drawing/2014/main" id="{729F2661-EEC3-40CF-8446-972A49094D4F}"/>
              </a:ext>
            </a:extLst>
          </p:cNvPr>
          <p:cNvSpPr>
            <a:spLocks xmlns:a="http://schemas.openxmlformats.org/drawingml/2006/main" noGrp="1"/>
          </p:cNvSpPr>
          <p:nvPr/>
        </p:nvSpPr>
        <p:spPr>
          <a:xfrm xmlns:a="http://schemas.openxmlformats.org/drawingml/2006/main">
            <a:off x="10572750" y="1952625"/>
            <a:ext cx="0" cy="3714750"/>
          </a:xfrm>
          <a:prstGeom xmlns:a="http://schemas.openxmlformats.org/drawingml/2006/main" prst="line">
            <a:avLst/>
          </a:prstGeom>
          <a:noFill xmlns:a="http://schemas.openxmlformats.org/drawingml/2006/main"/>
          <a:ln xmlns:a="http://schemas.openxmlformats.org/drawingml/2006/main" w="11430">
            <a:solidFill>
              <a:srgbClr val="CBD7E3"/>
            </a:solidFill>
          </a:ln>
        </p:spPr>
      </p:sp>
      <p:sp>
        <p:nvSpPr>
          <p:cNvPr id="11" name="">
            <a:extLst xmlns:a="http://schemas.openxmlformats.org/drawingml/2006/main">
              <a:ext uri="{FF2B5EF4-FFF2-40B4-BE49-F238E27FC236}">
                <a16:creationId xmlns:a16="http://schemas.microsoft.com/office/drawing/2014/main" id="{C9A018C3-A716-4AA7-A97E-2615289E9719}"/>
              </a:ext>
            </a:extLst>
          </p:cNvPr>
          <p:cNvSpPr>
            <a:spLocks xmlns:a="http://schemas.openxmlformats.org/drawingml/2006/main" noGrp="1"/>
          </p:cNvSpPr>
          <p:nvPr/>
        </p:nvSpPr>
        <p:spPr>
          <a:xfrm xmlns:a="http://schemas.openxmlformats.org/drawingml/2006/main">
            <a:off x="1447800" y="2105025"/>
            <a:ext cx="280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6"/>
                </a:solidFill>
                <a:latin typeface="DejaVu Sans"/>
                <a:ea typeface="DejaVu Sans"/>
                <a:cs typeface="DejaVu Sans"/>
              </a:defRPr>
            </a:defPPr>
          </a:lstStyle>
          <a:p xmlns:a="http://schemas.openxmlformats.org/drawingml/2006/main">
            <a:pPr algn="l">
              <a:defRPr sz="1575" b="0">
                <a:solidFill>
                  <a:srgbClr val="142B46"/>
                </a:solidFill>
                <a:latin typeface="DejaVu Sans"/>
                <a:ea typeface="DejaVu Sans"/>
                <a:cs typeface="DejaVu Sans"/>
              </a:defRPr>
            </a:pPr>
            <a:r>
              <a:rPr sz="1575" b="0">
                <a:solidFill>
                  <a:srgbClr val="142B46"/>
                </a:solidFill>
                <a:latin typeface="DejaVu Sans"/>
                <a:ea typeface="DejaVu Sans"/>
                <a:cs typeface="DejaVu Sans"/>
              </a:rPr>
              <a:t>Создать задачу</a:t>
            </a:r>
          </a:p>
        </p:txBody>
      </p:sp>
      <p:cxnSp>
        <p:nvCxnSpPr>
          <p:cNvPr id="12" name="">
            <a:extLst xmlns:a="http://schemas.openxmlformats.org/drawingml/2006/main">
              <a:ext uri="{FF2B5EF4-FFF2-40B4-BE49-F238E27FC236}">
                <a16:creationId xmlns:a16="http://schemas.microsoft.com/office/drawing/2014/main" id="{8FD82464-E575-4F0F-8EAD-E36A540F6693}"/>
              </a:ext>
            </a:extLst>
          </p:cNvPr>
          <p:cNvCxnSpPr/>
          <p:nvPr/>
        </p:nvCxnSpPr>
        <p:spPr>
          <a:xfrm xmlns:a="http://schemas.openxmlformats.org/drawingml/2006/main">
            <a:off x="1333500" y="2428875"/>
            <a:ext cx="3000375" cy="0"/>
          </a:xfrm>
          <a:prstGeom xmlns:a="http://schemas.openxmlformats.org/drawingml/2006/main" prst="straightConnector1">
            <a:avLst/>
          </a:prstGeom>
          <a:ln xmlns:a="http://schemas.openxmlformats.org/drawingml/2006/main" w="19050">
            <a:solidFill>
              <a:srgbClr val="2464AB"/>
            </a:solidFill>
            <a:tailEnd type="arrow" w="med" len="med"/>
          </a:ln>
        </p:spPr>
      </p:cxnSp>
      <p:sp>
        <p:nvSpPr>
          <p:cNvPr id="13" name="">
            <a:extLst xmlns:a="http://schemas.openxmlformats.org/drawingml/2006/main">
              <a:ext uri="{FF2B5EF4-FFF2-40B4-BE49-F238E27FC236}">
                <a16:creationId xmlns:a16="http://schemas.microsoft.com/office/drawing/2014/main" id="{8D7B39E6-0837-4EA7-B80C-98D02C627165}"/>
              </a:ext>
            </a:extLst>
          </p:cNvPr>
          <p:cNvSpPr>
            <a:spLocks xmlns:a="http://schemas.openxmlformats.org/drawingml/2006/main" noGrp="1"/>
          </p:cNvSpPr>
          <p:nvPr/>
        </p:nvSpPr>
        <p:spPr>
          <a:xfrm xmlns:a="http://schemas.openxmlformats.org/drawingml/2006/main">
            <a:off x="4448175" y="2771775"/>
            <a:ext cx="280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6"/>
                </a:solidFill>
                <a:latin typeface="DejaVu Sans"/>
                <a:ea typeface="DejaVu Sans"/>
                <a:cs typeface="DejaVu Sans"/>
              </a:defRPr>
            </a:defPPr>
          </a:lstStyle>
          <a:p xmlns:a="http://schemas.openxmlformats.org/drawingml/2006/main">
            <a:pPr algn="l">
              <a:defRPr sz="1575" b="0">
                <a:solidFill>
                  <a:srgbClr val="142B46"/>
                </a:solidFill>
                <a:latin typeface="DejaVu Sans"/>
                <a:ea typeface="DejaVu Sans"/>
                <a:cs typeface="DejaVu Sans"/>
              </a:defRPr>
            </a:pPr>
            <a:r>
              <a:rPr sz="1575" b="0">
                <a:solidFill>
                  <a:srgbClr val="142B46"/>
                </a:solidFill>
                <a:latin typeface="DejaVu Sans"/>
                <a:ea typeface="DejaVu Sans"/>
                <a:cs typeface="DejaVu Sans"/>
              </a:rPr>
              <a:t>Запустить этап</a:t>
            </a:r>
          </a:p>
        </p:txBody>
      </p:sp>
      <p:cxnSp>
        <p:nvCxnSpPr>
          <p:cNvPr id="14" name="">
            <a:extLst xmlns:a="http://schemas.openxmlformats.org/drawingml/2006/main">
              <a:ext uri="{FF2B5EF4-FFF2-40B4-BE49-F238E27FC236}">
                <a16:creationId xmlns:a16="http://schemas.microsoft.com/office/drawing/2014/main" id="{2D727142-C276-4F53-B9A9-F0597CA34B69}"/>
              </a:ext>
            </a:extLst>
          </p:cNvPr>
          <p:cNvCxnSpPr/>
          <p:nvPr/>
        </p:nvCxnSpPr>
        <p:spPr>
          <a:xfrm xmlns:a="http://schemas.openxmlformats.org/drawingml/2006/main">
            <a:off x="4333875" y="3095625"/>
            <a:ext cx="3000375" cy="0"/>
          </a:xfrm>
          <a:prstGeom xmlns:a="http://schemas.openxmlformats.org/drawingml/2006/main" prst="straightConnector1">
            <a:avLst/>
          </a:prstGeom>
          <a:ln xmlns:a="http://schemas.openxmlformats.org/drawingml/2006/main" w="19050">
            <a:solidFill>
              <a:srgbClr val="2464AB"/>
            </a:solidFill>
            <a:tailEnd type="arrow" w="med" len="med"/>
          </a:ln>
        </p:spPr>
      </p:cxnSp>
      <p:sp>
        <p:nvSpPr>
          <p:cNvPr id="15" name="">
            <a:extLst xmlns:a="http://schemas.openxmlformats.org/drawingml/2006/main">
              <a:ext uri="{FF2B5EF4-FFF2-40B4-BE49-F238E27FC236}">
                <a16:creationId xmlns:a16="http://schemas.microsoft.com/office/drawing/2014/main" id="{89759EC7-123A-4EB7-A8A0-CA4E5A16D41E}"/>
              </a:ext>
            </a:extLst>
          </p:cNvPr>
          <p:cNvSpPr>
            <a:spLocks xmlns:a="http://schemas.openxmlformats.org/drawingml/2006/main" noGrp="1"/>
          </p:cNvSpPr>
          <p:nvPr/>
        </p:nvSpPr>
        <p:spPr>
          <a:xfrm xmlns:a="http://schemas.openxmlformats.org/drawingml/2006/main">
            <a:off x="7448550" y="343852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6"/>
                </a:solidFill>
                <a:latin typeface="DejaVu Sans"/>
                <a:ea typeface="DejaVu Sans"/>
                <a:cs typeface="DejaVu Sans"/>
              </a:defRPr>
            </a:defPPr>
          </a:lstStyle>
          <a:p xmlns:a="http://schemas.openxmlformats.org/drawingml/2006/main">
            <a:pPr algn="l">
              <a:defRPr sz="1575" b="0">
                <a:solidFill>
                  <a:srgbClr val="142B46"/>
                </a:solidFill>
                <a:latin typeface="DejaVu Sans"/>
                <a:ea typeface="DejaVu Sans"/>
                <a:cs typeface="DejaVu Sans"/>
              </a:defRPr>
            </a:pPr>
            <a:r>
              <a:rPr sz="1575" b="0">
                <a:solidFill>
                  <a:srgbClr val="142B46"/>
                </a:solidFill>
                <a:latin typeface="DejaVu Sans"/>
                <a:ea typeface="DejaVu Sans"/>
                <a:cs typeface="DejaVu Sans"/>
              </a:rPr>
              <a:t>Сохранить checkpoint</a:t>
            </a:r>
          </a:p>
        </p:txBody>
      </p:sp>
      <p:cxnSp>
        <p:nvCxnSpPr>
          <p:cNvPr id="16" name="">
            <a:extLst xmlns:a="http://schemas.openxmlformats.org/drawingml/2006/main">
              <a:ext uri="{FF2B5EF4-FFF2-40B4-BE49-F238E27FC236}">
                <a16:creationId xmlns:a16="http://schemas.microsoft.com/office/drawing/2014/main" id="{E63B8F62-6143-4615-AF20-D92991B40734}"/>
              </a:ext>
            </a:extLst>
          </p:cNvPr>
          <p:cNvCxnSpPr/>
          <p:nvPr/>
        </p:nvCxnSpPr>
        <p:spPr>
          <a:xfrm xmlns:a="http://schemas.openxmlformats.org/drawingml/2006/main">
            <a:off x="7334250" y="3762375"/>
            <a:ext cx="3238500" cy="0"/>
          </a:xfrm>
          <a:prstGeom xmlns:a="http://schemas.openxmlformats.org/drawingml/2006/main" prst="straightConnector1">
            <a:avLst/>
          </a:prstGeom>
          <a:ln xmlns:a="http://schemas.openxmlformats.org/drawingml/2006/main" w="19050">
            <a:solidFill>
              <a:srgbClr val="2464AB"/>
            </a:solidFill>
            <a:tailEnd type="arrow" w="med" len="med"/>
          </a:ln>
        </p:spPr>
      </p:cxnSp>
      <p:sp>
        <p:nvSpPr>
          <p:cNvPr id="17" name="">
            <a:extLst xmlns:a="http://schemas.openxmlformats.org/drawingml/2006/main">
              <a:ext uri="{FF2B5EF4-FFF2-40B4-BE49-F238E27FC236}">
                <a16:creationId xmlns:a16="http://schemas.microsoft.com/office/drawing/2014/main" id="{0D5E3100-5DBA-4701-AA1F-8BEB87CC7EF6}"/>
              </a:ext>
            </a:extLst>
          </p:cNvPr>
          <p:cNvSpPr>
            <a:spLocks xmlns:a="http://schemas.openxmlformats.org/drawingml/2006/main" noGrp="1"/>
          </p:cNvSpPr>
          <p:nvPr/>
        </p:nvSpPr>
        <p:spPr>
          <a:xfrm xmlns:a="http://schemas.openxmlformats.org/drawingml/2006/main">
            <a:off x="7448550" y="4105275"/>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6"/>
                </a:solidFill>
                <a:latin typeface="DejaVu Sans"/>
                <a:ea typeface="DejaVu Sans"/>
                <a:cs typeface="DejaVu Sans"/>
              </a:defRPr>
            </a:defPPr>
          </a:lstStyle>
          <a:p xmlns:a="http://schemas.openxmlformats.org/drawingml/2006/main">
            <a:pPr algn="l">
              <a:defRPr sz="1575" b="0">
                <a:solidFill>
                  <a:srgbClr val="142B46"/>
                </a:solidFill>
                <a:latin typeface="DejaVu Sans"/>
                <a:ea typeface="DejaVu Sans"/>
                <a:cs typeface="DejaVu Sans"/>
              </a:defRPr>
            </a:pPr>
            <a:r>
              <a:rPr sz="1575" b="0">
                <a:solidFill>
                  <a:srgbClr val="142B46"/>
                </a:solidFill>
                <a:latin typeface="DejaVu Sans"/>
                <a:ea typeface="DejaVu Sans"/>
                <a:cs typeface="DejaVu Sans"/>
              </a:rPr>
              <a:t>Черновик и waiting</a:t>
            </a:r>
          </a:p>
        </p:txBody>
      </p:sp>
      <p:cxnSp>
        <p:nvCxnSpPr>
          <p:cNvPr id="18" name="">
            <a:extLst xmlns:a="http://schemas.openxmlformats.org/drawingml/2006/main">
              <a:ext uri="{FF2B5EF4-FFF2-40B4-BE49-F238E27FC236}">
                <a16:creationId xmlns:a16="http://schemas.microsoft.com/office/drawing/2014/main" id="{897F341F-AAC1-4E6C-86C0-8A45AE603686}"/>
              </a:ext>
            </a:extLst>
          </p:cNvPr>
          <p:cNvCxnSpPr/>
          <p:nvPr/>
        </p:nvCxnSpPr>
        <p:spPr>
          <a:xfrm xmlns:a="http://schemas.openxmlformats.org/drawingml/2006/main">
            <a:off x="7334250" y="4429125"/>
            <a:ext cx="3238500" cy="0"/>
          </a:xfrm>
          <a:prstGeom xmlns:a="http://schemas.openxmlformats.org/drawingml/2006/main" prst="straightConnector1">
            <a:avLst/>
          </a:prstGeom>
          <a:ln xmlns:a="http://schemas.openxmlformats.org/drawingml/2006/main" w="19050">
            <a:solidFill>
              <a:srgbClr val="2464AB"/>
            </a:solidFill>
            <a:tailEnd type="arrow" w="med" len="med"/>
          </a:ln>
        </p:spPr>
      </p:cxnSp>
      <p:sp>
        <p:nvSpPr>
          <p:cNvPr id="19" name="">
            <a:extLst xmlns:a="http://schemas.openxmlformats.org/drawingml/2006/main">
              <a:ext uri="{FF2B5EF4-FFF2-40B4-BE49-F238E27FC236}">
                <a16:creationId xmlns:a16="http://schemas.microsoft.com/office/drawing/2014/main" id="{FB6DB78E-3D46-48D9-8C22-598DC2E453F0}"/>
              </a:ext>
            </a:extLst>
          </p:cNvPr>
          <p:cNvSpPr>
            <a:spLocks xmlns:a="http://schemas.openxmlformats.org/drawingml/2006/main" noGrp="1"/>
          </p:cNvSpPr>
          <p:nvPr/>
        </p:nvSpPr>
        <p:spPr>
          <a:xfrm xmlns:a="http://schemas.openxmlformats.org/drawingml/2006/main">
            <a:off x="1447800" y="4772025"/>
            <a:ext cx="280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6"/>
                </a:solidFill>
                <a:latin typeface="DejaVu Sans"/>
                <a:ea typeface="DejaVu Sans"/>
                <a:cs typeface="DejaVu Sans"/>
              </a:defRPr>
            </a:defPPr>
          </a:lstStyle>
          <a:p xmlns:a="http://schemas.openxmlformats.org/drawingml/2006/main">
            <a:pPr algn="l">
              <a:defRPr sz="1575" b="0">
                <a:solidFill>
                  <a:srgbClr val="142B46"/>
                </a:solidFill>
                <a:latin typeface="DejaVu Sans"/>
                <a:ea typeface="DejaVu Sans"/>
                <a:cs typeface="DejaVu Sans"/>
              </a:defRPr>
            </a:pPr>
            <a:r>
              <a:rPr sz="1575" b="0">
                <a:solidFill>
                  <a:srgbClr val="142B46"/>
                </a:solidFill>
                <a:latin typeface="DejaVu Sans"/>
                <a:ea typeface="DejaVu Sans"/>
                <a:cs typeface="DejaVu Sans"/>
              </a:rPr>
              <a:t>Утвердить список</a:t>
            </a:r>
          </a:p>
        </p:txBody>
      </p:sp>
      <p:cxnSp>
        <p:nvCxnSpPr>
          <p:cNvPr id="20" name="">
            <a:extLst xmlns:a="http://schemas.openxmlformats.org/drawingml/2006/main">
              <a:ext uri="{FF2B5EF4-FFF2-40B4-BE49-F238E27FC236}">
                <a16:creationId xmlns:a16="http://schemas.microsoft.com/office/drawing/2014/main" id="{00415E32-8915-4A18-ADC3-4492904D1D4D}"/>
              </a:ext>
            </a:extLst>
          </p:cNvPr>
          <p:cNvCxnSpPr/>
          <p:nvPr/>
        </p:nvCxnSpPr>
        <p:spPr>
          <a:xfrm xmlns:a="http://schemas.openxmlformats.org/drawingml/2006/main">
            <a:off x="1333500" y="5095875"/>
            <a:ext cx="3000375" cy="0"/>
          </a:xfrm>
          <a:prstGeom xmlns:a="http://schemas.openxmlformats.org/drawingml/2006/main" prst="straightConnector1">
            <a:avLst/>
          </a:prstGeom>
          <a:ln xmlns:a="http://schemas.openxmlformats.org/drawingml/2006/main" w="19050">
            <a:solidFill>
              <a:srgbClr val="2464AB"/>
            </a:solidFill>
            <a:tailEnd type="arrow" w="med" len="med"/>
          </a:ln>
        </p:spPr>
      </p:cxnSp>
      <p:sp>
        <p:nvSpPr>
          <p:cNvPr id="21" name="">
            <a:extLst xmlns:a="http://schemas.openxmlformats.org/drawingml/2006/main">
              <a:ext uri="{FF2B5EF4-FFF2-40B4-BE49-F238E27FC236}">
                <a16:creationId xmlns:a16="http://schemas.microsoft.com/office/drawing/2014/main" id="{76556613-6DFD-4ADF-A541-9651ECACC0E4}"/>
              </a:ext>
            </a:extLst>
          </p:cNvPr>
          <p:cNvSpPr>
            <a:spLocks xmlns:a="http://schemas.openxmlformats.org/drawingml/2006/main" noGrp="1"/>
          </p:cNvSpPr>
          <p:nvPr/>
        </p:nvSpPr>
        <p:spPr>
          <a:xfrm xmlns:a="http://schemas.openxmlformats.org/drawingml/2006/main">
            <a:off x="4448175" y="5438775"/>
            <a:ext cx="6048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6"/>
                </a:solidFill>
                <a:latin typeface="DejaVu Sans"/>
                <a:ea typeface="DejaVu Sans"/>
                <a:cs typeface="DejaVu Sans"/>
              </a:defRPr>
            </a:defPPr>
          </a:lstStyle>
          <a:p xmlns:a="http://schemas.openxmlformats.org/drawingml/2006/main">
            <a:pPr algn="l">
              <a:defRPr sz="1575" b="0">
                <a:solidFill>
                  <a:srgbClr val="142B46"/>
                </a:solidFill>
                <a:latin typeface="DejaVu Sans"/>
                <a:ea typeface="DejaVu Sans"/>
                <a:cs typeface="DejaVu Sans"/>
              </a:defRPr>
            </a:pPr>
            <a:r>
              <a:rPr sz="1575" b="0">
                <a:solidFill>
                  <a:srgbClr val="142B46"/>
                </a:solidFill>
                <a:latin typeface="DejaVu Sans"/>
                <a:ea typeface="DejaVu Sans"/>
                <a:cs typeface="DejaVu Sans"/>
              </a:rPr>
              <a:t>Автор, версия, completed</a:t>
            </a:r>
          </a:p>
        </p:txBody>
      </p:sp>
      <p:cxnSp>
        <p:nvCxnSpPr>
          <p:cNvPr id="22" name="">
            <a:extLst xmlns:a="http://schemas.openxmlformats.org/drawingml/2006/main">
              <a:ext uri="{FF2B5EF4-FFF2-40B4-BE49-F238E27FC236}">
                <a16:creationId xmlns:a16="http://schemas.microsoft.com/office/drawing/2014/main" id="{69BEB97B-4A02-4129-B246-7B18F962D30B}"/>
              </a:ext>
            </a:extLst>
          </p:cNvPr>
          <p:cNvCxnSpPr/>
          <p:nvPr/>
        </p:nvCxnSpPr>
        <p:spPr>
          <a:xfrm xmlns:a="http://schemas.openxmlformats.org/drawingml/2006/main">
            <a:off x="4333875" y="5762625"/>
            <a:ext cx="6238875" cy="0"/>
          </a:xfrm>
          <a:prstGeom xmlns:a="http://schemas.openxmlformats.org/drawingml/2006/main" prst="straightConnector1">
            <a:avLst/>
          </a:prstGeom>
          <a:ln xmlns:a="http://schemas.openxmlformats.org/drawingml/2006/main" w="19050">
            <a:solidFill>
              <a:srgbClr val="2464AB"/>
            </a:solidFill>
            <a:tailEnd type="arrow" w="med" len="med"/>
          </a:ln>
        </p:spPr>
      </p:cxnSp>
    </p:spTree>
    <p:extLst>
      <p:ext uri="{BB962C8B-B14F-4D97-AF65-F5344CB8AC3E}">
        <p14:creationId xmlns:p14="http://schemas.microsoft.com/office/powerpoint/2010/main" val="19822651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821876-4C6D-4A92-AA15-5A62172B5B1D}"/>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Сравнение кандидатов и источники</a:t>
            </a:r>
          </a:p>
        </p:txBody>
      </p:sp>
      <p:sp>
        <p:nvSpPr>
          <p:cNvPr id="2" name="">
            <a:extLst xmlns:a="http://schemas.openxmlformats.org/drawingml/2006/main">
              <a:ext uri="{FF2B5EF4-FFF2-40B4-BE49-F238E27FC236}">
                <a16:creationId xmlns:a16="http://schemas.microsoft.com/office/drawing/2014/main" id="{EB75DDDF-9A10-4AD8-A4BD-F30EBA2CF965}"/>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92380B53-A981-468F-9F93-F4CE0811403A}"/>
              </a:ext>
            </a:extLst>
          </p:cNvPr>
          <p:cNvSpPr>
            <a:spLocks xmlns:a="http://schemas.openxmlformats.org/drawingml/2006/main" noGrp="1"/>
          </p:cNvSpPr>
          <p:nvPr/>
        </p:nvSpPr>
        <p:spPr>
          <a:xfrm xmlns:a="http://schemas.openxmlformats.org/drawingml/2006/main">
            <a:off x="609600" y="15240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B46"/>
                </a:solidFill>
                <a:latin typeface="DejaVu Sans"/>
                <a:ea typeface="DejaVu Sans"/>
                <a:cs typeface="DejaVu Sans"/>
              </a:defRPr>
            </a:defPPr>
          </a:lstStyle>
          <a:p xmlns:a="http://schemas.openxmlformats.org/drawingml/2006/main">
            <a:pPr algn="l">
              <a:defRPr sz="2250" b="1">
                <a:solidFill>
                  <a:srgbClr val="142B46"/>
                </a:solidFill>
                <a:latin typeface="DejaVu Sans"/>
                <a:ea typeface="DejaVu Sans"/>
                <a:cs typeface="DejaVu Sans"/>
              </a:defRPr>
            </a:pPr>
            <a:r>
              <a:rPr sz="2250" b="1">
                <a:solidFill>
                  <a:srgbClr val="142B46"/>
                </a:solidFill>
                <a:latin typeface="DejaVu Sans"/>
                <a:ea typeface="DejaVu Sans"/>
                <a:cs typeface="DejaVu Sans"/>
              </a:rPr>
              <a:t>Требования вакансии</a:t>
            </a:r>
          </a:p>
        </p:txBody>
      </p:sp>
      <p:sp>
        <p:nvSpPr>
          <p:cNvPr id="4" name="">
            <a:extLst xmlns:a="http://schemas.openxmlformats.org/drawingml/2006/main">
              <a:ext uri="{FF2B5EF4-FFF2-40B4-BE49-F238E27FC236}">
                <a16:creationId xmlns:a16="http://schemas.microsoft.com/office/drawing/2014/main" id="{48660D02-9695-4EE5-BFDD-52FAB38C2F0A}"/>
              </a:ext>
            </a:extLst>
          </p:cNvPr>
          <p:cNvSpPr>
            <a:spLocks xmlns:a="http://schemas.openxmlformats.org/drawingml/2006/main" noGrp="1"/>
          </p:cNvSpPr>
          <p:nvPr/>
        </p:nvSpPr>
        <p:spPr>
          <a:xfrm xmlns:a="http://schemas.openxmlformats.org/drawingml/2006/main">
            <a:off x="609600" y="2238375"/>
            <a:ext cx="438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F6173"/>
                </a:solidFill>
                <a:latin typeface="DejaVu Sans"/>
                <a:ea typeface="DejaVu Sans"/>
                <a:cs typeface="DejaVu Sans"/>
              </a:defRPr>
            </a:defPPr>
          </a:lstStyle>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Python и SQL</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Опыт от 3 лет</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Docker желателен</a:t>
            </a:r>
          </a:p>
        </p:txBody>
      </p:sp>
      <p:sp>
        <p:nvSpPr>
          <p:cNvPr id="5" name="">
            <a:extLst xmlns:a="http://schemas.openxmlformats.org/drawingml/2006/main">
              <a:ext uri="{FF2B5EF4-FFF2-40B4-BE49-F238E27FC236}">
                <a16:creationId xmlns:a16="http://schemas.microsoft.com/office/drawing/2014/main" id="{2056A32A-0A5F-4A09-9587-DB8682DDC620}"/>
              </a:ext>
            </a:extLst>
          </p:cNvPr>
          <p:cNvSpPr>
            <a:spLocks xmlns:a="http://schemas.openxmlformats.org/drawingml/2006/main" noGrp="1"/>
          </p:cNvSpPr>
          <p:nvPr/>
        </p:nvSpPr>
        <p:spPr>
          <a:xfrm xmlns:a="http://schemas.openxmlformats.org/drawingml/2006/main">
            <a:off x="6286500" y="15240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B46"/>
                </a:solidFill>
                <a:latin typeface="DejaVu Sans"/>
                <a:ea typeface="DejaVu Sans"/>
                <a:cs typeface="DejaVu Sans"/>
              </a:defRPr>
            </a:defPPr>
          </a:lstStyle>
          <a:p xmlns:a="http://schemas.openxmlformats.org/drawingml/2006/main">
            <a:pPr algn="l">
              <a:defRPr sz="2250" b="1">
                <a:solidFill>
                  <a:srgbClr val="142B46"/>
                </a:solidFill>
                <a:latin typeface="DejaVu Sans"/>
                <a:ea typeface="DejaVu Sans"/>
                <a:cs typeface="DejaVu Sans"/>
              </a:defRPr>
            </a:pPr>
            <a:r>
              <a:rPr sz="2250" b="1">
                <a:solidFill>
                  <a:srgbClr val="142B46"/>
                </a:solidFill>
                <a:latin typeface="DejaVu Sans"/>
                <a:ea typeface="DejaVu Sans"/>
                <a:cs typeface="DejaVu Sans"/>
              </a:rPr>
              <a:t>Основание в резюме</a:t>
            </a:r>
          </a:p>
        </p:txBody>
      </p:sp>
      <p:sp>
        <p:nvSpPr>
          <p:cNvPr id="6" name="">
            <a:extLst xmlns:a="http://schemas.openxmlformats.org/drawingml/2006/main">
              <a:ext uri="{FF2B5EF4-FFF2-40B4-BE49-F238E27FC236}">
                <a16:creationId xmlns:a16="http://schemas.microsoft.com/office/drawing/2014/main" id="{711A2BD3-0541-45CF-B0B5-602701EE753B}"/>
              </a:ext>
            </a:extLst>
          </p:cNvPr>
          <p:cNvSpPr>
            <a:spLocks xmlns:a="http://schemas.openxmlformats.org/drawingml/2006/main" noGrp="1"/>
          </p:cNvSpPr>
          <p:nvPr/>
        </p:nvSpPr>
        <p:spPr>
          <a:xfrm xmlns:a="http://schemas.openxmlformats.org/drawingml/2006/main">
            <a:off x="6286500" y="2238375"/>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464AB"/>
                </a:solidFill>
                <a:latin typeface="DejaVu Sans"/>
                <a:ea typeface="DejaVu Sans"/>
                <a:cs typeface="DejaVu Sans"/>
              </a:defRPr>
            </a:defPPr>
          </a:lstStyle>
          <a:p xmlns:a="http://schemas.openxmlformats.org/drawingml/2006/main">
            <a:pPr algn="l">
              <a:defRPr sz="2100" b="1">
                <a:solidFill>
                  <a:srgbClr val="2464AB"/>
                </a:solidFill>
                <a:latin typeface="DejaVu Sans"/>
                <a:ea typeface="DejaVu Sans"/>
                <a:cs typeface="DejaVu Sans"/>
              </a:defRPr>
            </a:pPr>
            <a:r>
              <a:rPr sz="2100" b="1">
                <a:solidFill>
                  <a:srgbClr val="2464AB"/>
                </a:solidFill>
                <a:latin typeface="DejaVu Sans"/>
                <a:ea typeface="DejaVu Sans"/>
                <a:cs typeface="DejaVu Sans"/>
              </a:rPr>
              <a:t>«Создавал REST API на Python и FastAPI, проектировал таблицы PostgreSQL»</a:t>
            </a:r>
          </a:p>
        </p:txBody>
      </p:sp>
      <p:sp>
        <p:nvSpPr>
          <p:cNvPr id="7" name="">
            <a:extLst xmlns:a="http://schemas.openxmlformats.org/drawingml/2006/main">
              <a:ext uri="{FF2B5EF4-FFF2-40B4-BE49-F238E27FC236}">
                <a16:creationId xmlns:a16="http://schemas.microsoft.com/office/drawing/2014/main" id="{F64C68D7-88EF-4781-BFE4-781AE47E4CD2}"/>
              </a:ext>
            </a:extLst>
          </p:cNvPr>
          <p:cNvSpPr>
            <a:spLocks xmlns:a="http://schemas.openxmlformats.org/drawingml/2006/main" noGrp="1"/>
          </p:cNvSpPr>
          <p:nvPr/>
        </p:nvSpPr>
        <p:spPr>
          <a:xfrm xmlns:a="http://schemas.openxmlformats.org/drawingml/2006/main">
            <a:off x="6286500" y="376237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F6173"/>
                </a:solidFill>
                <a:latin typeface="DejaVu Sans"/>
                <a:ea typeface="DejaVu Sans"/>
                <a:cs typeface="DejaVu Sans"/>
              </a:defRPr>
            </a:defPPr>
          </a:lstStyle>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Источник: PDF r01, снимок текста задачи</a:t>
            </a:r>
          </a:p>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Цитата открывает сохранённую версию</a:t>
            </a:r>
          </a:p>
        </p:txBody>
      </p:sp>
      <p:sp>
        <p:nvSpPr>
          <p:cNvPr id="8" name="">
            <a:extLst xmlns:a="http://schemas.openxmlformats.org/drawingml/2006/main">
              <a:ext uri="{FF2B5EF4-FFF2-40B4-BE49-F238E27FC236}">
                <a16:creationId xmlns:a16="http://schemas.microsoft.com/office/drawing/2014/main" id="{E462C46F-2601-4ECC-8610-EEE88C92F952}"/>
              </a:ext>
            </a:extLst>
          </p:cNvPr>
          <p:cNvSpPr>
            <a:spLocks xmlns:a="http://schemas.openxmlformats.org/drawingml/2006/main" noGrp="1"/>
          </p:cNvSpPr>
          <p:nvPr/>
        </p:nvSpPr>
        <p:spPr>
          <a:xfrm xmlns:a="http://schemas.openxmlformats.org/drawingml/2006/main">
            <a:off x="609600" y="50958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6"/>
                </a:solidFill>
                <a:latin typeface="DejaVu Sans"/>
                <a:ea typeface="DejaVu Sans"/>
                <a:cs typeface="DejaVu Sans"/>
              </a:defRPr>
            </a:defPPr>
          </a:lstStyle>
          <a:p xmlns:a="http://schemas.openxmlformats.org/drawingml/2006/main">
            <a:pPr algn="l">
              <a:defRPr sz="2175" b="1">
                <a:solidFill>
                  <a:srgbClr val="142B46"/>
                </a:solidFill>
                <a:latin typeface="DejaVu Sans"/>
                <a:ea typeface="DejaVu Sans"/>
                <a:cs typeface="DejaVu Sans"/>
              </a:defRPr>
            </a:pPr>
            <a:r>
              <a:rPr sz="2175" b="1">
                <a:solidFill>
                  <a:srgbClr val="142B46"/>
                </a:solidFill>
                <a:latin typeface="DejaVu Sans"/>
                <a:ea typeface="DejaVu Sans"/>
                <a:cs typeface="DejaVu Sans"/>
              </a:rPr>
              <a:t>Содержание подсказки LLM проверяет рекрутер</a:t>
            </a:r>
          </a:p>
          <a:p xmlns:a="http://schemas.openxmlformats.org/drawingml/2006/main">
            <a:pPr algn="l">
              <a:defRPr sz="2175" b="1">
                <a:solidFill>
                  <a:srgbClr val="142B46"/>
                </a:solidFill>
                <a:latin typeface="DejaVu Sans"/>
                <a:ea typeface="DejaVu Sans"/>
                <a:cs typeface="DejaVu Sans"/>
              </a:defRPr>
            </a:pPr>
            <a:r>
              <a:rPr sz="2175" b="1">
                <a:solidFill>
                  <a:srgbClr val="142B46"/>
                </a:solidFill>
                <a:latin typeface="DejaVu Sans"/>
                <a:ea typeface="DejaVu Sans"/>
                <a:cs typeface="DejaVu Sans"/>
              </a:rPr>
              <a:t>Противоречия переходят на проверку</a:t>
            </a:r>
          </a:p>
        </p:txBody>
      </p:sp>
    </p:spTree>
    <p:extLst>
      <p:ext uri="{BB962C8B-B14F-4D97-AF65-F5344CB8AC3E}">
        <p14:creationId xmlns:p14="http://schemas.microsoft.com/office/powerpoint/2010/main" val="3506630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5A7F11-633C-4407-BDD0-A1F5A96DAA0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Локальный GPU: результаты и память</a:t>
            </a:r>
          </a:p>
        </p:txBody>
      </p:sp>
      <p:sp>
        <p:nvSpPr>
          <p:cNvPr id="2" name="">
            <a:extLst xmlns:a="http://schemas.openxmlformats.org/drawingml/2006/main">
              <a:ext uri="{FF2B5EF4-FFF2-40B4-BE49-F238E27FC236}">
                <a16:creationId xmlns:a16="http://schemas.microsoft.com/office/drawing/2014/main" id="{0ECC47E1-B03E-49F5-86D2-C74D9F1A1006}"/>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5D034F5E-9E03-419F-BB02-6D0AFFDDD584}"/>
              </a:ext>
            </a:extLst>
          </p:cNvPr>
          <p:cNvSpPr>
            <a:spLocks xmlns:a="http://schemas.openxmlformats.org/drawingml/2006/main" noGrp="1"/>
          </p:cNvSpPr>
          <p:nvPr/>
        </p:nvSpPr>
        <p:spPr>
          <a:xfrm xmlns:a="http://schemas.openxmlformats.org/drawingml/2006/main">
            <a:off x="609600" y="13811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464AB"/>
                </a:solidFill>
                <a:latin typeface="DejaVu Sans"/>
                <a:ea typeface="DejaVu Sans"/>
                <a:cs typeface="DejaVu Sans"/>
              </a:defRPr>
            </a:defPPr>
          </a:lstStyle>
          <a:p xmlns:a="http://schemas.openxmlformats.org/drawingml/2006/main">
            <a:pPr algn="l">
              <a:defRPr sz="2400" b="1">
                <a:solidFill>
                  <a:srgbClr val="2464AB"/>
                </a:solidFill>
                <a:latin typeface="DejaVu Sans"/>
                <a:ea typeface="DejaVu Sans"/>
                <a:cs typeface="DejaVu Sans"/>
              </a:defRPr>
            </a:pPr>
            <a:r>
              <a:rPr sz="2400" b="1">
                <a:solidFill>
                  <a:srgbClr val="2464AB"/>
                </a:solidFill>
                <a:latin typeface="DejaVu Sans"/>
                <a:ea typeface="DejaVu Sans"/>
                <a:cs typeface="DejaVu Sans"/>
              </a:rPr>
              <a:t>RX 6900 XT, 16 GiB</a:t>
            </a:r>
          </a:p>
        </p:txBody>
      </p:sp>
      <p:graphicFrame>
        <p:nvGraphicFramePr>
          <p:cNvPr id="4" name="">
            <a:extLst xmlns:a="http://schemas.openxmlformats.org/drawingml/2006/main">
              <a:ext uri="{FF2B5EF4-FFF2-40B4-BE49-F238E27FC236}">
                <a16:creationId xmlns:a16="http://schemas.microsoft.com/office/drawing/2014/main" id="{E59E7A0B-6499-4E84-B437-19DBB3795E6D}"/>
              </a:ext>
            </a:extLst>
          </p:cNvPr>
          <p:cNvGraphicFramePr/>
          <p:nvPr/>
        </p:nvGraphicFramePr>
        <p:xfrm>
          <a:off xmlns:a="http://schemas.openxmlformats.org/drawingml/2006/main" x="609600" y="2047875"/>
          <a:ext xmlns:a="http://schemas.openxmlformats.org/drawingml/2006/main" cx="10972800" cy="2171700"/>
        </p:xfrm>
        <a:graphic xmlns:a="http://schemas.openxmlformats.org/drawingml/2006/main">
          <a:graphicData uri="http://schemas.openxmlformats.org/drawingml/2006/table">
            <a:tbl>
              <a:tblPr/>
              <a:tblGrid>
                <a:gridCol w="3238500"/>
                <a:gridCol w="7734300"/>
              </a:tblGrid>
              <a:tr h="542925">
                <a:tc>
                  <a:txBody>
                    <a:bodyPr lIns="133350" tIns="114300" rIns="133350" bIns="76200">
                      <a:noAutofit/>
                    </a:bodyPr>
                    <a:lstStyle/>
                    <a:p>
                      <a:r>
                        <a:rPr sz="1875" b="1">
                          <a:solidFill>
                            <a:srgbClr val="FFFFFF"/>
                          </a:solidFill>
                          <a:latin typeface="DejaVu Sans"/>
                          <a:ea typeface="DejaVu Sans"/>
                          <a:cs typeface="DejaVu Sans"/>
                        </a:rPr>
                        <a:t>Вариант</a:t>
                      </a:r>
                    </a:p>
                  </a:txBody>
                  <a:tcPr marL="91440" marR="91440" marT="45720" marB="45720" anchor="ctr">
                    <a:lnL w="6668">
                      <a:solidFill>
                        <a:srgbClr val="CBD7E3"/>
                      </a:solidFill>
                      <a:prstDash val="solid"/>
                    </a:lnL>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75" b="1">
                          <a:solidFill>
                            <a:srgbClr val="FFFFFF"/>
                          </a:solidFill>
                          <a:latin typeface="DejaVu Sans"/>
                          <a:ea typeface="DejaVu Sans"/>
                          <a:cs typeface="DejaVu Sans"/>
                        </a:rPr>
                        <a:t>Причина выбора или ограничения</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r>
              <a:tr h="542925">
                <a:tc>
                  <a:txBody>
                    <a:bodyPr lIns="133350" tIns="114300" rIns="133350" bIns="76200">
                      <a:noAutofit/>
                    </a:bodyPr>
                    <a:lstStyle/>
                    <a:p>
                      <a:r>
                        <a:rPr sz="1875" b="0">
                          <a:solidFill>
                            <a:srgbClr val="142B46"/>
                          </a:solidFill>
                          <a:latin typeface="DejaVu Sans"/>
                          <a:ea typeface="DejaVu Sans"/>
                          <a:cs typeface="DejaVu Sans"/>
                        </a:rPr>
                        <a:t>Около 3B</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Меньше памяти, качество нужно сравнить</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542925">
                <a:tc>
                  <a:txBody>
                    <a:bodyPr lIns="133350" tIns="114300" rIns="133350" bIns="76200">
                      <a:noAutofit/>
                    </a:bodyPr>
                    <a:lstStyle/>
                    <a:p>
                      <a:r>
                        <a:rPr sz="1875" b="0">
                          <a:solidFill>
                            <a:srgbClr val="142B46"/>
                          </a:solidFill>
                          <a:latin typeface="DejaVu Sans"/>
                          <a:ea typeface="DejaVu Sans"/>
                          <a:cs typeface="DejaVu Sans"/>
                        </a:rPr>
                        <a:t>Qwen3-4B FP16</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Выбран для пилота, один слот генерации</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542925">
                <a:tc>
                  <a:txBody>
                    <a:bodyPr lIns="133350" tIns="114300" rIns="133350" bIns="76200">
                      <a:noAutofit/>
                    </a:bodyPr>
                    <a:lstStyle/>
                    <a:p>
                      <a:r>
                        <a:rPr sz="1875" b="0">
                          <a:solidFill>
                            <a:srgbClr val="142B46"/>
                          </a:solidFill>
                          <a:latin typeface="DejaVu Sans"/>
                          <a:ea typeface="DejaVu Sans"/>
                          <a:cs typeface="DejaVu Sans"/>
                        </a:rPr>
                        <a:t>7B Q4</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Альтернатива после проверки backend</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29AF82F-5B78-4A55-BCBE-F45D234ED03D}"/>
              </a:ext>
            </a:extLst>
          </p:cNvPr>
          <p:cNvSpPr>
            <a:spLocks xmlns:a="http://schemas.openxmlformats.org/drawingml/2006/main" noGrp="1"/>
          </p:cNvSpPr>
          <p:nvPr/>
        </p:nvSpPr>
        <p:spPr>
          <a:xfrm xmlns:a="http://schemas.openxmlformats.org/drawingml/2006/main">
            <a:off x="609600" y="45243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B46"/>
                </a:solidFill>
                <a:latin typeface="DejaVu Sans"/>
                <a:ea typeface="DejaVu Sans"/>
                <a:cs typeface="DejaVu Sans"/>
              </a:defRPr>
            </a:defPPr>
          </a:lstStyle>
          <a:p xmlns:a="http://schemas.openxmlformats.org/drawingml/2006/main">
            <a:pPr algn="l">
              <a:defRPr sz="1800" b="1">
                <a:solidFill>
                  <a:srgbClr val="142B46"/>
                </a:solidFill>
                <a:latin typeface="DejaVu Sans"/>
                <a:ea typeface="DejaVu Sans"/>
                <a:cs typeface="DejaVu Sans"/>
              </a:defRPr>
            </a:pPr>
            <a:r>
              <a:rPr sz="1800" b="1">
                <a:solidFill>
                  <a:srgbClr val="142B46"/>
                </a:solidFill>
                <a:latin typeface="DejaVu Sans"/>
                <a:ea typeface="DejaVu Sans"/>
                <a:cs typeface="DejaVu Sans"/>
              </a:rPr>
              <a:t>KV = 2 × 36 × 8 × 128 × 2 байта × токены × слоты</a:t>
            </a:r>
          </a:p>
        </p:txBody>
      </p:sp>
      <p:sp>
        <p:nvSpPr>
          <p:cNvPr id="6" name="">
            <a:extLst xmlns:a="http://schemas.openxmlformats.org/drawingml/2006/main">
              <a:ext uri="{FF2B5EF4-FFF2-40B4-BE49-F238E27FC236}">
                <a16:creationId xmlns:a16="http://schemas.microsoft.com/office/drawing/2014/main" id="{0F06E213-71D0-4292-9141-757E1DFEE8F9}"/>
              </a:ext>
            </a:extLst>
          </p:cNvPr>
          <p:cNvSpPr>
            <a:spLocks xmlns:a="http://schemas.openxmlformats.org/drawingml/2006/main" noGrp="1"/>
          </p:cNvSpPr>
          <p:nvPr/>
        </p:nvSpPr>
        <p:spPr>
          <a:xfrm xmlns:a="http://schemas.openxmlformats.org/drawingml/2006/main">
            <a:off x="609600" y="51435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F6173"/>
                </a:solidFill>
                <a:latin typeface="DejaVu Sans"/>
                <a:ea typeface="DejaVu Sans"/>
                <a:cs typeface="DejaVu Sans"/>
              </a:defRPr>
            </a:defPPr>
          </a:lstStyle>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Два запуска: 9,761 и 10,363 с, 230 токенов входа и 111 ответа</a:t>
            </a:r>
          </a:p>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Загрузка 7,902 с, allocated 7,63 GiB, reserved 7,67 GiB</a:t>
            </a:r>
          </a:p>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Контекст 3 712 + 384 = 4 096, KV до 576 MiB на слот</a:t>
            </a:r>
          </a:p>
        </p:txBody>
      </p:sp>
    </p:spTree>
    <p:extLst>
      <p:ext uri="{BB962C8B-B14F-4D97-AF65-F5344CB8AC3E}">
        <p14:creationId xmlns:p14="http://schemas.microsoft.com/office/powerpoint/2010/main" val="596000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097693-9E54-412C-8F7B-D93264086E6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Доступ к данным и решениям</a:t>
            </a:r>
          </a:p>
        </p:txBody>
      </p:sp>
      <p:sp>
        <p:nvSpPr>
          <p:cNvPr id="2" name="">
            <a:extLst xmlns:a="http://schemas.openxmlformats.org/drawingml/2006/main">
              <a:ext uri="{FF2B5EF4-FFF2-40B4-BE49-F238E27FC236}">
                <a16:creationId xmlns:a16="http://schemas.microsoft.com/office/drawing/2014/main" id="{77C50791-2FFC-4386-A2ED-D0D720B896DA}"/>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08</a:t>
            </a:r>
          </a:p>
        </p:txBody>
      </p:sp>
      <p:graphicFrame>
        <p:nvGraphicFramePr>
          <p:cNvPr id="3" name="">
            <a:extLst xmlns:a="http://schemas.openxmlformats.org/drawingml/2006/main">
              <a:ext uri="{FF2B5EF4-FFF2-40B4-BE49-F238E27FC236}">
                <a16:creationId xmlns:a16="http://schemas.microsoft.com/office/drawing/2014/main" id="{660EA55D-17E3-4C77-B73C-03BEECA0ABE8}"/>
              </a:ext>
            </a:extLst>
          </p:cNvPr>
          <p:cNvGraphicFramePr/>
          <p:nvPr/>
        </p:nvGraphicFramePr>
        <p:xfrm>
          <a:off xmlns:a="http://schemas.openxmlformats.org/drawingml/2006/main" x="609600" y="1571625"/>
          <a:ext xmlns:a="http://schemas.openxmlformats.org/drawingml/2006/main" cx="10972800" cy="3476625"/>
        </p:xfrm>
        <a:graphic xmlns:a="http://schemas.openxmlformats.org/drawingml/2006/main">
          <a:graphicData uri="http://schemas.openxmlformats.org/drawingml/2006/table">
            <a:tbl>
              <a:tblPr/>
              <a:tblGrid>
                <a:gridCol w="2571750"/>
                <a:gridCol w="4857750"/>
                <a:gridCol w="3543300"/>
              </a:tblGrid>
              <a:tr h="695325">
                <a:tc>
                  <a:txBody>
                    <a:bodyPr lIns="133350" tIns="114300" rIns="133350" bIns="76200">
                      <a:noAutofit/>
                    </a:bodyPr>
                    <a:lstStyle/>
                    <a:p>
                      <a:r>
                        <a:rPr sz="1875" b="1">
                          <a:solidFill>
                            <a:srgbClr val="FFFFFF"/>
                          </a:solidFill>
                          <a:latin typeface="DejaVu Sans"/>
                          <a:ea typeface="DejaVu Sans"/>
                          <a:cs typeface="DejaVu Sans"/>
                        </a:rPr>
                        <a:t>Роль</a:t>
                      </a:r>
                    </a:p>
                  </a:txBody>
                  <a:tcPr marL="91440" marR="91440" marT="45720" marB="45720" anchor="ctr">
                    <a:lnL w="6668">
                      <a:solidFill>
                        <a:srgbClr val="CBD7E3"/>
                      </a:solidFill>
                      <a:prstDash val="solid"/>
                    </a:lnL>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75" b="1">
                          <a:solidFill>
                            <a:srgbClr val="FFFFFF"/>
                          </a:solidFill>
                          <a:latin typeface="DejaVu Sans"/>
                          <a:ea typeface="DejaVu Sans"/>
                          <a:cs typeface="DejaVu Sans"/>
                        </a:rPr>
                        <a:t>Разрешённая работа</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75" b="1">
                          <a:solidFill>
                            <a:srgbClr val="FFFFFF"/>
                          </a:solidFill>
                          <a:latin typeface="DejaVu Sans"/>
                          <a:ea typeface="DejaVu Sans"/>
                          <a:cs typeface="DejaVu Sans"/>
                        </a:rPr>
                        <a:t>Область</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r>
              <a:tr h="695325">
                <a:tc>
                  <a:txBody>
                    <a:bodyPr lIns="133350" tIns="114300" rIns="133350" bIns="76200">
                      <a:noAutofit/>
                    </a:bodyPr>
                    <a:lstStyle/>
                    <a:p>
                      <a:r>
                        <a:rPr sz="1875" b="0">
                          <a:solidFill>
                            <a:srgbClr val="142B46"/>
                          </a:solidFill>
                          <a:latin typeface="DejaVu Sans"/>
                          <a:ea typeface="DejaVu Sans"/>
                          <a:cs typeface="DejaVu Sans"/>
                        </a:rPr>
                        <a:t>Рекрутер</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Данные, задачи, утверждение</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Свои проекты</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695325">
                <a:tc>
                  <a:txBody>
                    <a:bodyPr lIns="133350" tIns="114300" rIns="133350" bIns="76200">
                      <a:noAutofit/>
                    </a:bodyPr>
                    <a:lstStyle/>
                    <a:p>
                      <a:r>
                        <a:rPr sz="1875" b="0">
                          <a:solidFill>
                            <a:srgbClr val="142B46"/>
                          </a:solidFill>
                          <a:latin typeface="DejaVu Sans"/>
                          <a:ea typeface="DejaVu Sans"/>
                          <a:cs typeface="DejaVu Sans"/>
                        </a:rPr>
                        <a:t>Клиент</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Утверждённые результаты</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Свой проект</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695325">
                <a:tc>
                  <a:txBody>
                    <a:bodyPr lIns="133350" tIns="114300" rIns="133350" bIns="76200">
                      <a:noAutofit/>
                    </a:bodyPr>
                    <a:lstStyle/>
                    <a:p>
                      <a:r>
                        <a:rPr sz="1875" b="0">
                          <a:solidFill>
                            <a:srgbClr val="142B46"/>
                          </a:solidFill>
                          <a:latin typeface="DejaVu Sans"/>
                          <a:ea typeface="DejaVu Sans"/>
                          <a:cs typeface="DejaVu Sans"/>
                        </a:rPr>
                        <a:t>Аудитор</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Метаданные аудита</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Без текстов резюме</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695325">
                <a:tc>
                  <a:txBody>
                    <a:bodyPr lIns="133350" tIns="114300" rIns="133350" bIns="76200">
                      <a:noAutofit/>
                    </a:bodyPr>
                    <a:lstStyle/>
                    <a:p>
                      <a:r>
                        <a:rPr sz="1875" b="0">
                          <a:solidFill>
                            <a:srgbClr val="142B46"/>
                          </a:solidFill>
                          <a:latin typeface="DejaVu Sans"/>
                          <a:ea typeface="DejaVu Sans"/>
                          <a:cs typeface="DejaVu Sans"/>
                        </a:rPr>
                        <a:t>Администратор</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Метрики и остановка</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75" b="0">
                          <a:solidFill>
                            <a:srgbClr val="142B46"/>
                          </a:solidFill>
                          <a:latin typeface="DejaVu Sans"/>
                          <a:ea typeface="DejaVu Sans"/>
                          <a:cs typeface="DejaVu Sans"/>
                        </a:rPr>
                        <a:t>Эксплуатация</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23B0DA8-8953-46DD-86D8-110824013D01}"/>
              </a:ext>
            </a:extLst>
          </p:cNvPr>
          <p:cNvSpPr>
            <a:spLocks xmlns:a="http://schemas.openxmlformats.org/drawingml/2006/main" noGrp="1"/>
          </p:cNvSpPr>
          <p:nvPr/>
        </p:nvSpPr>
        <p:spPr>
          <a:xfrm xmlns:a="http://schemas.openxmlformats.org/drawingml/2006/main">
            <a:off x="609600" y="55245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464AB"/>
                </a:solidFill>
                <a:latin typeface="DejaVu Sans"/>
                <a:ea typeface="DejaVu Sans"/>
                <a:cs typeface="DejaVu Sans"/>
              </a:defRPr>
            </a:defPPr>
          </a:lstStyle>
          <a:p xmlns:a="http://schemas.openxmlformats.org/drawingml/2006/main">
            <a:pPr algn="l">
              <a:defRPr sz="2100" b="1">
                <a:solidFill>
                  <a:srgbClr val="2464AB"/>
                </a:solidFill>
                <a:latin typeface="DejaVu Sans"/>
                <a:ea typeface="DejaVu Sans"/>
                <a:cs typeface="DejaVu Sans"/>
              </a:defRPr>
            </a:pPr>
            <a:r>
              <a:rPr sz="2100" b="1">
                <a:solidFill>
                  <a:srgbClr val="2464AB"/>
                </a:solidFill>
                <a:latin typeface="DejaVu Sans"/>
                <a:ea typeface="DejaVu Sans"/>
                <a:cs typeface="DejaVu Sans"/>
              </a:rPr>
              <a:t>Проверки tenant/project действуют в API и хранилище</a:t>
            </a:r>
          </a:p>
          <a:p xmlns:a="http://schemas.openxmlformats.org/drawingml/2006/main">
            <a:pPr algn="l">
              <a:defRPr sz="2100" b="1">
                <a:solidFill>
                  <a:srgbClr val="2464AB"/>
                </a:solidFill>
                <a:latin typeface="DejaVu Sans"/>
                <a:ea typeface="DejaVu Sans"/>
                <a:cs typeface="DejaVu Sans"/>
              </a:defRPr>
            </a:pPr>
            <a:r>
              <a:rPr sz="2100" b="1">
                <a:solidFill>
                  <a:srgbClr val="2464AB"/>
                </a:solidFill>
                <a:latin typeface="DejaVu Sans"/>
                <a:ea typeface="DejaVu Sans"/>
                <a:cs typeface="DejaVu Sans"/>
              </a:rPr>
              <a:t>Текст резюме не меняет полномочия</a:t>
            </a:r>
          </a:p>
        </p:txBody>
      </p:sp>
    </p:spTree>
    <p:extLst>
      <p:ext uri="{BB962C8B-B14F-4D97-AF65-F5344CB8AC3E}">
        <p14:creationId xmlns:p14="http://schemas.microsoft.com/office/powerpoint/2010/main" val="7326168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839A38-69A1-4C59-9551-059D39D801B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Отказы и восстановление</a:t>
            </a:r>
          </a:p>
        </p:txBody>
      </p:sp>
      <p:sp>
        <p:nvSpPr>
          <p:cNvPr id="2" name="">
            <a:extLst xmlns:a="http://schemas.openxmlformats.org/drawingml/2006/main">
              <a:ext uri="{FF2B5EF4-FFF2-40B4-BE49-F238E27FC236}">
                <a16:creationId xmlns:a16="http://schemas.microsoft.com/office/drawing/2014/main" id="{E320CAEA-6B59-4434-99C5-0FD4577845CD}"/>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09</a:t>
            </a:r>
          </a:p>
        </p:txBody>
      </p:sp>
      <p:graphicFrame>
        <p:nvGraphicFramePr>
          <p:cNvPr id="3" name="">
            <a:extLst xmlns:a="http://schemas.openxmlformats.org/drawingml/2006/main">
              <a:ext uri="{FF2B5EF4-FFF2-40B4-BE49-F238E27FC236}">
                <a16:creationId xmlns:a16="http://schemas.microsoft.com/office/drawing/2014/main" id="{15C2088A-E1FA-4E38-9BB9-912EEF36B695}"/>
              </a:ext>
            </a:extLst>
          </p:cNvPr>
          <p:cNvGraphicFramePr/>
          <p:nvPr/>
        </p:nvGraphicFramePr>
        <p:xfrm>
          <a:off xmlns:a="http://schemas.openxmlformats.org/drawingml/2006/main" x="609600" y="1619250"/>
          <a:ext xmlns:a="http://schemas.openxmlformats.org/drawingml/2006/main" cx="10972800" cy="3143250"/>
        </p:xfrm>
        <a:graphic xmlns:a="http://schemas.openxmlformats.org/drawingml/2006/main">
          <a:graphicData uri="http://schemas.openxmlformats.org/drawingml/2006/table">
            <a:tbl>
              <a:tblPr/>
              <a:tblGrid>
                <a:gridCol w="4191000"/>
                <a:gridCol w="6781800"/>
              </a:tblGrid>
              <a:tr h="523875">
                <a:tc>
                  <a:txBody>
                    <a:bodyPr lIns="133350" tIns="114300" rIns="133350" bIns="76200">
                      <a:noAutofit/>
                    </a:bodyPr>
                    <a:lstStyle/>
                    <a:p>
                      <a:r>
                        <a:rPr sz="1800" b="1">
                          <a:solidFill>
                            <a:srgbClr val="FFFFFF"/>
                          </a:solidFill>
                          <a:latin typeface="DejaVu Sans"/>
                          <a:ea typeface="DejaVu Sans"/>
                          <a:cs typeface="DejaVu Sans"/>
                        </a:rPr>
                        <a:t>Ситуация</a:t>
                      </a:r>
                    </a:p>
                  </a:txBody>
                  <a:tcPr marL="91440" marR="91440" marT="45720" marB="45720" anchor="ctr">
                    <a:lnL w="6668">
                      <a:solidFill>
                        <a:srgbClr val="CBD7E3"/>
                      </a:solidFill>
                      <a:prstDash val="solid"/>
                    </a:lnL>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00" b="1">
                          <a:solidFill>
                            <a:srgbClr val="FFFFFF"/>
                          </a:solidFill>
                          <a:latin typeface="DejaVu Sans"/>
                          <a:ea typeface="DejaVu Sans"/>
                          <a:cs typeface="DejaVu Sans"/>
                        </a:rPr>
                        <a:t>Ожидаемая реакция</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r>
              <a:tr h="523875">
                <a:tc>
                  <a:txBody>
                    <a:bodyPr lIns="133350" tIns="114300" rIns="133350" bIns="76200">
                      <a:noAutofit/>
                    </a:bodyPr>
                    <a:lstStyle/>
                    <a:p>
                      <a:r>
                        <a:rPr sz="1800" b="0">
                          <a:solidFill>
                            <a:srgbClr val="142B46"/>
                          </a:solidFill>
                          <a:latin typeface="DejaVu Sans"/>
                          <a:ea typeface="DejaVu Sans"/>
                          <a:cs typeface="DejaVu Sans"/>
                        </a:rPr>
                        <a:t>Процесс прерван</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Checkpoint и исходный deadline</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523875">
                <a:tc>
                  <a:txBody>
                    <a:bodyPr lIns="133350" tIns="114300" rIns="133350" bIns="76200">
                      <a:noAutofit/>
                    </a:bodyPr>
                    <a:lstStyle/>
                    <a:p>
                      <a:r>
                        <a:rPr sz="1800" b="0">
                          <a:solidFill>
                            <a:srgbClr val="142B46"/>
                          </a:solidFill>
                          <a:latin typeface="DejaVu Sans"/>
                          <a:ea typeface="DejaVu Sans"/>
                          <a:cs typeface="DejaVu Sans"/>
                        </a:rPr>
                        <a:t>Пользователь отменил</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Поздний ответ сохраняет destroyed</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523875">
                <a:tc>
                  <a:txBody>
                    <a:bodyPr lIns="133350" tIns="114300" rIns="133350" bIns="76200">
                      <a:noAutofit/>
                    </a:bodyPr>
                    <a:lstStyle/>
                    <a:p>
                      <a:r>
                        <a:rPr sz="1800" b="0">
                          <a:solidFill>
                            <a:srgbClr val="142B46"/>
                          </a:solidFill>
                          <a:latin typeface="DejaVu Sans"/>
                          <a:ea typeface="DejaVu Sans"/>
                          <a:cs typeface="DejaVu Sans"/>
                        </a:rPr>
                        <a:t>Квота исчерпана</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Статус остановлен, причина в аудите</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523875">
                <a:tc>
                  <a:txBody>
                    <a:bodyPr lIns="133350" tIns="114300" rIns="133350" bIns="76200">
                      <a:noAutofit/>
                    </a:bodyPr>
                    <a:lstStyle/>
                    <a:p>
                      <a:r>
                        <a:rPr sz="1800" b="0">
                          <a:solidFill>
                            <a:srgbClr val="142B46"/>
                          </a:solidFill>
                          <a:latin typeface="DejaVu Sans"/>
                          <a:ea typeface="DejaVu Sans"/>
                          <a:cs typeface="DejaVu Sans"/>
                        </a:rPr>
                        <a:t>Некорректный JSON LLM</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Факты сохранены, JSON отклонён</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523875">
                <a:tc>
                  <a:txBody>
                    <a:bodyPr lIns="133350" tIns="114300" rIns="133350" bIns="76200">
                      <a:noAutofit/>
                    </a:bodyPr>
                    <a:lstStyle/>
                    <a:p>
                      <a:r>
                        <a:rPr sz="1800" b="0">
                          <a:solidFill>
                            <a:srgbClr val="142B46"/>
                          </a:solidFill>
                          <a:latin typeface="DejaVu Sans"/>
                          <a:ea typeface="DejaVu Sans"/>
                          <a:cs typeface="DejaVu Sans"/>
                        </a:rPr>
                        <a:t>Неподдерживаемый PDF</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422 с причиной, частичной записи нет</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7303FF6-603B-42AD-AB87-228AFFB71CF7}"/>
              </a:ext>
            </a:extLst>
          </p:cNvPr>
          <p:cNvSpPr>
            <a:spLocks xmlns:a="http://schemas.openxmlformats.org/drawingml/2006/main" noGrp="1"/>
          </p:cNvSpPr>
          <p:nvPr/>
        </p:nvSpPr>
        <p:spPr>
          <a:xfrm xmlns:a="http://schemas.openxmlformats.org/drawingml/2006/main">
            <a:off x="609600" y="52863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F6173"/>
                </a:solidFill>
                <a:latin typeface="DejaVu Sans"/>
                <a:ea typeface="DejaVu Sans"/>
                <a:cs typeface="DejaVu Sans"/>
              </a:defRPr>
            </a:defPPr>
          </a:lstStyle>
          <a:p xmlns:a="http://schemas.openxmlformats.org/drawingml/2006/main">
            <a:pPr algn="l">
              <a:defRPr sz="1875" b="0">
                <a:solidFill>
                  <a:srgbClr val="4F6173"/>
                </a:solidFill>
                <a:latin typeface="DejaVu Sans"/>
                <a:ea typeface="DejaVu Sans"/>
                <a:cs typeface="DejaVu Sans"/>
              </a:defRPr>
            </a:pPr>
            <a:r>
              <a:rPr sz="1875" b="0">
                <a:solidFill>
                  <a:srgbClr val="4F6173"/>
                </a:solidFill>
                <a:latin typeface="DejaVu Sans"/>
                <a:ea typeface="DejaVu Sans"/>
                <a:cs typeface="DejaVu Sans"/>
              </a:rPr>
              <a:t>Deadline включает паузу и сбой, повтор не обнуляет бюджет</a:t>
            </a:r>
          </a:p>
          <a:p xmlns:a="http://schemas.openxmlformats.org/drawingml/2006/main">
            <a:pPr algn="l">
              <a:defRPr sz="1875" b="0">
                <a:solidFill>
                  <a:srgbClr val="4F6173"/>
                </a:solidFill>
                <a:latin typeface="DejaVu Sans"/>
                <a:ea typeface="DejaVu Sans"/>
                <a:cs typeface="DejaVu Sans"/>
              </a:defRPr>
            </a:pPr>
            <a:r>
              <a:rPr sz="1875" b="0">
                <a:solidFill>
                  <a:srgbClr val="4F6173"/>
                </a:solidFill>
                <a:latin typeface="DejaVu Sans"/>
                <a:ea typeface="DejaVu Sans"/>
                <a:cs typeface="DejaVu Sans"/>
              </a:rPr>
              <a:t>Отмена кооперативная, работающий вызов может добежать</a:t>
            </a:r>
          </a:p>
        </p:txBody>
      </p:sp>
    </p:spTree>
    <p:extLst>
      <p:ext uri="{BB962C8B-B14F-4D97-AF65-F5344CB8AC3E}">
        <p14:creationId xmlns:p14="http://schemas.microsoft.com/office/powerpoint/2010/main" val="14878737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3EF00F-83F7-4AF2-8D40-905E6F56E17F}"/>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Задержки API до и после</a:t>
            </a:r>
          </a:p>
        </p:txBody>
      </p:sp>
      <p:sp>
        <p:nvSpPr>
          <p:cNvPr id="2" name="">
            <a:extLst xmlns:a="http://schemas.openxmlformats.org/drawingml/2006/main">
              <a:ext uri="{FF2B5EF4-FFF2-40B4-BE49-F238E27FC236}">
                <a16:creationId xmlns:a16="http://schemas.microsoft.com/office/drawing/2014/main" id="{AD16F408-C486-4B85-AA8D-0BEC60FD5563}"/>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10</a:t>
            </a:r>
          </a:p>
        </p:txBody>
      </p:sp>
      <p:graphicFrame>
        <p:nvGraphicFramePr>
          <p:cNvPr id="3" name="">
            <a:extLst xmlns:a="http://schemas.openxmlformats.org/drawingml/2006/main">
              <a:ext uri="{FF2B5EF4-FFF2-40B4-BE49-F238E27FC236}">
                <a16:creationId xmlns:a16="http://schemas.microsoft.com/office/drawing/2014/main" id="{68EA0ADC-DE50-49CE-B11E-3E7751251F98}"/>
              </a:ext>
            </a:extLst>
          </p:cNvPr>
          <p:cNvGraphicFramePr/>
          <p:nvPr/>
        </p:nvGraphicFramePr>
        <p:xfrm>
          <a:off xmlns:a="http://schemas.openxmlformats.org/drawingml/2006/main" x="609600" y="1571625"/>
          <a:ext xmlns:a="http://schemas.openxmlformats.org/drawingml/2006/main" cx="10972800" cy="2762250"/>
        </p:xfrm>
        <a:graphic xmlns:a="http://schemas.openxmlformats.org/drawingml/2006/main">
          <a:graphicData uri="http://schemas.openxmlformats.org/drawingml/2006/table">
            <a:tbl>
              <a:tblPr/>
              <a:tblGrid>
                <a:gridCol w="4381500"/>
                <a:gridCol w="2286000"/>
                <a:gridCol w="2571750"/>
                <a:gridCol w="1733550"/>
              </a:tblGrid>
              <a:tr h="690563">
                <a:tc>
                  <a:txBody>
                    <a:bodyPr lIns="133350" tIns="114300" rIns="133350" bIns="76200">
                      <a:noAutofit/>
                    </a:bodyPr>
                    <a:lstStyle/>
                    <a:p>
                      <a:r>
                        <a:rPr sz="1800" b="1">
                          <a:solidFill>
                            <a:srgbClr val="FFFFFF"/>
                          </a:solidFill>
                          <a:latin typeface="DejaVu Sans"/>
                          <a:ea typeface="DejaVu Sans"/>
                          <a:cs typeface="DejaVu Sans"/>
                        </a:rPr>
                        <a:t>Профиль</a:t>
                      </a:r>
                    </a:p>
                  </a:txBody>
                  <a:tcPr marL="91440" marR="91440" marT="45720" marB="45720" anchor="ctr">
                    <a:lnL w="6668">
                      <a:solidFill>
                        <a:srgbClr val="CBD7E3"/>
                      </a:solidFill>
                      <a:prstDash val="solid"/>
                    </a:lnL>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00" b="1">
                          <a:solidFill>
                            <a:srgbClr val="FFFFFF"/>
                          </a:solidFill>
                          <a:latin typeface="DejaVu Sans"/>
                          <a:ea typeface="DejaVu Sans"/>
                          <a:cs typeface="DejaVu Sans"/>
                        </a:rPr>
                        <a:t>До, p95 мс</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00" b="1">
                          <a:solidFill>
                            <a:srgbClr val="FFFFFF"/>
                          </a:solidFill>
                          <a:latin typeface="DejaVu Sans"/>
                          <a:ea typeface="DejaVu Sans"/>
                          <a:cs typeface="DejaVu Sans"/>
                        </a:rPr>
                        <a:t>После, p95 мс</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00" b="1">
                          <a:solidFill>
                            <a:srgbClr val="FFFFFF"/>
                          </a:solidFill>
                          <a:latin typeface="DejaVu Sans"/>
                          <a:ea typeface="DejaVu Sans"/>
                          <a:cs typeface="DejaVu Sans"/>
                        </a:rPr>
                        <a:t>Ошибки</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r>
              <a:tr h="690563">
                <a:tc>
                  <a:txBody>
                    <a:bodyPr lIns="133350" tIns="114300" rIns="133350" bIns="76200">
                      <a:noAutofit/>
                    </a:bodyPr>
                    <a:lstStyle/>
                    <a:p>
                      <a:r>
                        <a:rPr sz="1800" b="0">
                          <a:solidFill>
                            <a:srgbClr val="142B46"/>
                          </a:solidFill>
                          <a:latin typeface="DejaVu Sans"/>
                          <a:ea typeface="DejaVu Sans"/>
                          <a:cs typeface="DejaVu Sans"/>
                        </a:rPr>
                        <a:t>1 задача × 30 резюме</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28,29</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16,43</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0,0%</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690563">
                <a:tc>
                  <a:txBody>
                    <a:bodyPr lIns="133350" tIns="114300" rIns="133350" bIns="76200">
                      <a:noAutofit/>
                    </a:bodyPr>
                    <a:lstStyle/>
                    <a:p>
                      <a:r>
                        <a:rPr sz="1800" b="0">
                          <a:solidFill>
                            <a:srgbClr val="142B46"/>
                          </a:solidFill>
                          <a:latin typeface="DejaVu Sans"/>
                          <a:ea typeface="DejaVu Sans"/>
                          <a:cs typeface="DejaVu Sans"/>
                        </a:rPr>
                        <a:t>8 задач × 100 резюме</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182,82</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134,40</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0,0%</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690563">
                <a:tc>
                  <a:txBody>
                    <a:bodyPr lIns="133350" tIns="114300" rIns="133350" bIns="76200">
                      <a:noAutofit/>
                    </a:bodyPr>
                    <a:lstStyle/>
                    <a:p>
                      <a:r>
                        <a:rPr sz="1800" b="0">
                          <a:solidFill>
                            <a:srgbClr val="142B46"/>
                          </a:solidFill>
                          <a:latin typeface="DejaVu Sans"/>
                          <a:ea typeface="DejaVu Sans"/>
                          <a:cs typeface="DejaVu Sans"/>
                        </a:rPr>
                        <a:t>12 задач × 500 резюме</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793,94</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179,33</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0,0%</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2AF95F3-C0CC-4C61-9F8F-3E7CDF323B75}"/>
              </a:ext>
            </a:extLst>
          </p:cNvPr>
          <p:cNvSpPr>
            <a:spLocks xmlns:a="http://schemas.openxmlformats.org/drawingml/2006/main" noGrp="1"/>
          </p:cNvSpPr>
          <p:nvPr/>
        </p:nvSpPr>
        <p:spPr>
          <a:xfrm xmlns:a="http://schemas.openxmlformats.org/drawingml/2006/main">
            <a:off x="609600" y="4667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464AB"/>
                </a:solidFill>
                <a:latin typeface="DejaVu Sans"/>
                <a:ea typeface="DejaVu Sans"/>
                <a:cs typeface="DejaVu Sans"/>
              </a:defRPr>
            </a:defPPr>
          </a:lstStyle>
          <a:p xmlns:a="http://schemas.openxmlformats.org/drawingml/2006/main">
            <a:pPr algn="l">
              <a:defRPr sz="2100" b="1">
                <a:solidFill>
                  <a:srgbClr val="2464AB"/>
                </a:solidFill>
                <a:latin typeface="DejaVu Sans"/>
                <a:ea typeface="DejaVu Sans"/>
                <a:cs typeface="DejaVu Sans"/>
              </a:defRPr>
            </a:pPr>
            <a:r>
              <a:rPr sz="2100" b="1">
                <a:solidFill>
                  <a:srgbClr val="2464AB"/>
                </a:solidFill>
                <a:latin typeface="DejaVu Sans"/>
                <a:ea typeface="DejaVu Sans"/>
                <a:cs typeface="DejaVu Sans"/>
              </a:rPr>
              <a:t>Ориентир 500 мс пройден, 20 активных исполнителей</a:t>
            </a:r>
          </a:p>
        </p:txBody>
      </p:sp>
      <p:sp>
        <p:nvSpPr>
          <p:cNvPr id="5" name="">
            <a:extLst xmlns:a="http://schemas.openxmlformats.org/drawingml/2006/main">
              <a:ext uri="{FF2B5EF4-FFF2-40B4-BE49-F238E27FC236}">
                <a16:creationId xmlns:a16="http://schemas.microsoft.com/office/drawing/2014/main" id="{A481D74C-798F-4219-A4B6-B5E16184287F}"/>
              </a:ext>
            </a:extLst>
          </p:cNvPr>
          <p:cNvSpPr>
            <a:spLocks xmlns:a="http://schemas.openxmlformats.org/drawingml/2006/main" noGrp="1"/>
          </p:cNvSpPr>
          <p:nvPr/>
        </p:nvSpPr>
        <p:spPr>
          <a:xfrm xmlns:a="http://schemas.openxmlformats.org/drawingml/2006/main">
            <a:off x="609600" y="5238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F6173"/>
                </a:solidFill>
                <a:latin typeface="DejaVu Sans"/>
                <a:ea typeface="DejaVu Sans"/>
                <a:cs typeface="DejaVu Sans"/>
              </a:defRPr>
            </a:defPPr>
          </a:lstStyle>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До: Python-нагрузка конкурировала с API за GIL</a:t>
            </a:r>
          </a:p>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После: отдельные spawn-процессы</a:t>
            </a:r>
          </a:p>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96 автотестов за 18,17 с, короткий baseline-стенд</a:t>
            </a:r>
          </a:p>
        </p:txBody>
      </p:sp>
    </p:spTree>
    <p:extLst>
      <p:ext uri="{BB962C8B-B14F-4D97-AF65-F5344CB8AC3E}">
        <p14:creationId xmlns:p14="http://schemas.microsoft.com/office/powerpoint/2010/main" val="21389824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AB05F7-0E7F-41FC-BB12-6B0E7E269E4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Масштабирование и экономика</a:t>
            </a:r>
          </a:p>
        </p:txBody>
      </p:sp>
      <p:sp>
        <p:nvSpPr>
          <p:cNvPr id="2" name="">
            <a:extLst xmlns:a="http://schemas.openxmlformats.org/drawingml/2006/main">
              <a:ext uri="{FF2B5EF4-FFF2-40B4-BE49-F238E27FC236}">
                <a16:creationId xmlns:a16="http://schemas.microsoft.com/office/drawing/2014/main" id="{326DD8CC-0F91-4094-8C1A-A4E6C9441FA5}"/>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11</a:t>
            </a:r>
          </a:p>
        </p:txBody>
      </p:sp>
      <p:graphicFrame>
        <p:nvGraphicFramePr>
          <p:cNvPr id="3" name="">
            <a:extLst xmlns:a="http://schemas.openxmlformats.org/drawingml/2006/main">
              <a:ext uri="{FF2B5EF4-FFF2-40B4-BE49-F238E27FC236}">
                <a16:creationId xmlns:a16="http://schemas.microsoft.com/office/drawing/2014/main" id="{CA524EDF-4AE5-46F4-9152-B4C5697ECE3A}"/>
              </a:ext>
            </a:extLst>
          </p:cNvPr>
          <p:cNvGraphicFramePr/>
          <p:nvPr/>
        </p:nvGraphicFramePr>
        <p:xfrm>
          <a:off xmlns:a="http://schemas.openxmlformats.org/drawingml/2006/main" x="609600" y="1619250"/>
          <a:ext xmlns:a="http://schemas.openxmlformats.org/drawingml/2006/main" cx="10972800" cy="2762250"/>
        </p:xfrm>
        <a:graphic xmlns:a="http://schemas.openxmlformats.org/drawingml/2006/main">
          <a:graphicData uri="http://schemas.openxmlformats.org/drawingml/2006/table">
            <a:tbl>
              <a:tblPr/>
              <a:tblGrid>
                <a:gridCol w="2476500"/>
                <a:gridCol w="5715000"/>
                <a:gridCol w="2781300"/>
              </a:tblGrid>
              <a:tr h="690563">
                <a:tc>
                  <a:txBody>
                    <a:bodyPr lIns="133350" tIns="114300" rIns="133350" bIns="76200">
                      <a:noAutofit/>
                    </a:bodyPr>
                    <a:lstStyle/>
                    <a:p>
                      <a:r>
                        <a:rPr sz="1800" b="1">
                          <a:solidFill>
                            <a:srgbClr val="FFFFFF"/>
                          </a:solidFill>
                          <a:latin typeface="DejaVu Sans"/>
                          <a:ea typeface="DejaVu Sans"/>
                          <a:cs typeface="DejaVu Sans"/>
                        </a:rPr>
                        <a:t>Профиль</a:t>
                      </a:r>
                    </a:p>
                  </a:txBody>
                  <a:tcPr marL="91440" marR="91440" marT="45720" marB="45720" anchor="ctr">
                    <a:lnL w="6668">
                      <a:solidFill>
                        <a:srgbClr val="CBD7E3"/>
                      </a:solidFill>
                      <a:prstDash val="solid"/>
                    </a:lnL>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00" b="1">
                          <a:solidFill>
                            <a:srgbClr val="FFFFFF"/>
                          </a:solidFill>
                          <a:latin typeface="DejaVu Sans"/>
                          <a:ea typeface="DejaVu Sans"/>
                          <a:cs typeface="DejaVu Sans"/>
                        </a:rPr>
                        <a:t>Устройство системы</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c>
                  <a:txBody>
                    <a:bodyPr lIns="133350" tIns="114300" rIns="133350" bIns="76200">
                      <a:noAutofit/>
                    </a:bodyPr>
                    <a:lstStyle/>
                    <a:p>
                      <a:r>
                        <a:rPr sz="1800" b="1">
                          <a:solidFill>
                            <a:srgbClr val="FFFFFF"/>
                          </a:solidFill>
                          <a:latin typeface="DejaVu Sans"/>
                          <a:ea typeface="DejaVu Sans"/>
                          <a:cs typeface="DejaVu Sans"/>
                        </a:rPr>
                        <a:t>Условный CAPEX</a:t>
                      </a:r>
                    </a:p>
                  </a:txBody>
                  <a:tcPr marL="91440" marR="91440" marT="45720" marB="45720" anchor="ctr">
                    <a:lnR w="6668">
                      <a:solidFill>
                        <a:srgbClr val="CBD7E3"/>
                      </a:solidFill>
                      <a:prstDash val="solid"/>
                    </a:lnR>
                    <a:lnT w="6668">
                      <a:solidFill>
                        <a:srgbClr val="CBD7E3"/>
                      </a:solidFill>
                      <a:prstDash val="solid"/>
                    </a:lnT>
                    <a:lnB w="6668">
                      <a:solidFill>
                        <a:srgbClr val="CBD7E3"/>
                      </a:solidFill>
                      <a:prstDash val="solid"/>
                    </a:lnB>
                    <a:solidFill>
                      <a:srgbClr val="142B46"/>
                    </a:solidFill>
                  </a:tcPr>
                </a:tc>
              </a:tr>
              <a:tr h="690563">
                <a:tc>
                  <a:txBody>
                    <a:bodyPr lIns="133350" tIns="114300" rIns="133350" bIns="76200">
                      <a:noAutofit/>
                    </a:bodyPr>
                    <a:lstStyle/>
                    <a:p>
                      <a:r>
                        <a:rPr sz="1800" b="0">
                          <a:solidFill>
                            <a:srgbClr val="142B46"/>
                          </a:solidFill>
                          <a:latin typeface="DejaVu Sans"/>
                          <a:ea typeface="DejaVu Sans"/>
                          <a:cs typeface="DejaVu Sans"/>
                        </a:rPr>
                        <a:t>Пилот</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SQLite, один GPU 16 GiB</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150 тыс. руб.</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690563">
                <a:tc>
                  <a:txBody>
                    <a:bodyPr lIns="133350" tIns="114300" rIns="133350" bIns="76200">
                      <a:noAutofit/>
                    </a:bodyPr>
                    <a:lstStyle/>
                    <a:p>
                      <a:r>
                        <a:rPr sz="1800" b="0">
                          <a:solidFill>
                            <a:srgbClr val="142B46"/>
                          </a:solidFill>
                          <a:latin typeface="DejaVu Sans"/>
                          <a:ea typeface="DejaVu Sans"/>
                          <a:cs typeface="DejaVu Sans"/>
                        </a:rPr>
                        <a:t>Целевой</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Отдельный API и GPU 24-48 GiB</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450 тыс. руб.</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r h="690563">
                <a:tc>
                  <a:txBody>
                    <a:bodyPr lIns="133350" tIns="114300" rIns="133350" bIns="76200">
                      <a:noAutofit/>
                    </a:bodyPr>
                    <a:lstStyle/>
                    <a:p>
                      <a:r>
                        <a:rPr sz="1800" b="0">
                          <a:solidFill>
                            <a:srgbClr val="142B46"/>
                          </a:solidFill>
                          <a:latin typeface="DejaVu Sans"/>
                          <a:ea typeface="DejaVu Sans"/>
                          <a:cs typeface="DejaVu Sans"/>
                        </a:rPr>
                        <a:t>Рост</a:t>
                      </a:r>
                    </a:p>
                  </a:txBody>
                  <a:tcPr marL="91440" marR="91440" marT="45720" marB="45720" anchor="ctr">
                    <a:lnL w="6668">
                      <a:solidFill>
                        <a:srgbClr val="CBD7E3"/>
                      </a:solidFill>
                      <a:prstDash val="solid"/>
                    </a:lnL>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PostgreSQL, очередь, GPU-workers</a:t>
                      </a:r>
                    </a:p>
                  </a:txBody>
                  <a:tcPr marL="91440" marR="91440" marT="45720" marB="45720" anchor="ctr">
                    <a:lnR w="6668">
                      <a:solidFill>
                        <a:srgbClr val="CBD7E3"/>
                      </a:solidFill>
                      <a:prstDash val="solid"/>
                    </a:lnR>
                    <a:lnB w="6668">
                      <a:solidFill>
                        <a:srgbClr val="CBD7E3"/>
                      </a:solidFill>
                      <a:prstDash val="solid"/>
                    </a:lnB>
                    <a:solidFill>
                      <a:srgbClr val="FFFFFF"/>
                    </a:solidFill>
                  </a:tcPr>
                </a:tc>
                <a:tc>
                  <a:txBody>
                    <a:bodyPr lIns="133350" tIns="114300" rIns="133350" bIns="76200">
                      <a:noAutofit/>
                    </a:bodyPr>
                    <a:lstStyle/>
                    <a:p>
                      <a:r>
                        <a:rPr sz="1800" b="0">
                          <a:solidFill>
                            <a:srgbClr val="142B46"/>
                          </a:solidFill>
                          <a:latin typeface="DejaVu Sans"/>
                          <a:ea typeface="DejaVu Sans"/>
                          <a:cs typeface="DejaVu Sans"/>
                        </a:rPr>
                        <a:t>1,2 млн руб.</a:t>
                      </a:r>
                    </a:p>
                  </a:txBody>
                  <a:tcPr marL="91440" marR="91440" marT="45720" marB="45720" anchor="ctr">
                    <a:lnR w="6668">
                      <a:solidFill>
                        <a:srgbClr val="CBD7E3"/>
                      </a:solidFill>
                      <a:prstDash val="solid"/>
                    </a:lnR>
                    <a:lnB w="6668">
                      <a:solidFill>
                        <a:srgbClr val="CBD7E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B9F957A-4632-40DF-905A-3318FE1F0FFD}"/>
              </a:ext>
            </a:extLst>
          </p:cNvPr>
          <p:cNvSpPr>
            <a:spLocks xmlns:a="http://schemas.openxmlformats.org/drawingml/2006/main" noGrp="1"/>
          </p:cNvSpPr>
          <p:nvPr/>
        </p:nvSpPr>
        <p:spPr>
          <a:xfrm xmlns:a="http://schemas.openxmlformats.org/drawingml/2006/main">
            <a:off x="609600" y="4857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B46"/>
                </a:solidFill>
                <a:latin typeface="DejaVu Sans"/>
                <a:ea typeface="DejaVu Sans"/>
                <a:cs typeface="DejaVu Sans"/>
              </a:defRPr>
            </a:defPPr>
          </a:lstStyle>
          <a:p xmlns:a="http://schemas.openxmlformats.org/drawingml/2006/main">
            <a:pPr algn="l">
              <a:defRPr sz="1875" b="1">
                <a:solidFill>
                  <a:srgbClr val="142B46"/>
                </a:solidFill>
                <a:latin typeface="DejaVu Sans"/>
                <a:ea typeface="DejaVu Sans"/>
                <a:cs typeface="DejaVu Sans"/>
              </a:defRPr>
            </a:pPr>
            <a:r>
              <a:rPr sz="1875" b="1">
                <a:solidFill>
                  <a:srgbClr val="142B46"/>
                </a:solidFill>
                <a:latin typeface="DejaVu Sans"/>
                <a:ea typeface="DejaVu Sans"/>
                <a:cs typeface="DejaVu Sans"/>
              </a:rPr>
              <a:t>5 000 операций в день, из них 10% с LLM: около 1,4 GPU-часа</a:t>
            </a:r>
          </a:p>
        </p:txBody>
      </p:sp>
      <p:sp>
        <p:nvSpPr>
          <p:cNvPr id="5" name="">
            <a:extLst xmlns:a="http://schemas.openxmlformats.org/drawingml/2006/main">
              <a:ext uri="{FF2B5EF4-FFF2-40B4-BE49-F238E27FC236}">
                <a16:creationId xmlns:a16="http://schemas.microsoft.com/office/drawing/2014/main" id="{99CB0C4E-690A-4477-93BD-9BD05C94496D}"/>
              </a:ext>
            </a:extLst>
          </p:cNvPr>
          <p:cNvSpPr>
            <a:spLocks xmlns:a="http://schemas.openxmlformats.org/drawingml/2006/main" noGrp="1"/>
          </p:cNvSpPr>
          <p:nvPr/>
        </p:nvSpPr>
        <p:spPr>
          <a:xfrm xmlns:a="http://schemas.openxmlformats.org/drawingml/2006/main">
            <a:off x="609600" y="54292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F6173"/>
                </a:solidFill>
                <a:latin typeface="DejaVu Sans"/>
                <a:ea typeface="DejaVu Sans"/>
                <a:cs typeface="DejaVu Sans"/>
              </a:defRPr>
            </a:defPPr>
          </a:lstStyle>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100% с LLM: около 14 GPU-часов, два GPU на восьмичасовой день</a:t>
            </a:r>
          </a:p>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Запас на пик и смешанную нагрузку требует отдельного замера</a:t>
            </a:r>
          </a:p>
        </p:txBody>
      </p:sp>
    </p:spTree>
    <p:extLst>
      <p:ext uri="{BB962C8B-B14F-4D97-AF65-F5344CB8AC3E}">
        <p14:creationId xmlns:p14="http://schemas.microsoft.com/office/powerpoint/2010/main" val="15132751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50EB72-319C-4F94-BC98-FDBEB647DFDD}"/>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6"/>
                </a:solidFill>
                <a:latin typeface="DejaVu Sans"/>
                <a:ea typeface="DejaVu Sans"/>
                <a:cs typeface="DejaVu Sans"/>
              </a:defRPr>
            </a:defPPr>
          </a:lstStyle>
          <a:p xmlns:a="http://schemas.openxmlformats.org/drawingml/2006/main">
            <a:pPr algn="l">
              <a:defRPr sz="3225" b="1">
                <a:solidFill>
                  <a:srgbClr val="142B46"/>
                </a:solidFill>
                <a:latin typeface="DejaVu Sans"/>
                <a:ea typeface="DejaVu Sans"/>
                <a:cs typeface="DejaVu Sans"/>
              </a:defRPr>
            </a:pPr>
            <a:r>
              <a:rPr sz="3225" b="1">
                <a:solidFill>
                  <a:srgbClr val="142B46"/>
                </a:solidFill>
                <a:latin typeface="DejaVu Sans"/>
                <a:ea typeface="DejaVu Sans"/>
                <a:cs typeface="DejaVu Sans"/>
              </a:rPr>
              <a:t>Демонстрация и границы пилота</a:t>
            </a:r>
          </a:p>
        </p:txBody>
      </p:sp>
      <p:sp>
        <p:nvSpPr>
          <p:cNvPr id="2" name="">
            <a:extLst xmlns:a="http://schemas.openxmlformats.org/drawingml/2006/main">
              <a:ext uri="{FF2B5EF4-FFF2-40B4-BE49-F238E27FC236}">
                <a16:creationId xmlns:a16="http://schemas.microsoft.com/office/drawing/2014/main" id="{946DD01D-A62E-4D17-92C9-CA9BE22ACA63}"/>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3"/>
                </a:solidFill>
                <a:latin typeface="DejaVu Sans"/>
                <a:ea typeface="DejaVu Sans"/>
                <a:cs typeface="DejaVu Sans"/>
              </a:defRPr>
            </a:defPPr>
          </a:lstStyle>
          <a:p xmlns:a="http://schemas.openxmlformats.org/drawingml/2006/main">
            <a:pPr algn="r">
              <a:defRPr sz="1350" b="0">
                <a:solidFill>
                  <a:srgbClr val="4F6173"/>
                </a:solidFill>
                <a:latin typeface="DejaVu Sans"/>
                <a:ea typeface="DejaVu Sans"/>
                <a:cs typeface="DejaVu Sans"/>
              </a:defRPr>
            </a:pPr>
            <a:r>
              <a:rPr sz="1350" b="0">
                <a:solidFill>
                  <a:srgbClr val="4F6173"/>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C8FA6567-FE9F-4F57-94F2-14D422F53C23}"/>
              </a:ext>
            </a:extLst>
          </p:cNvPr>
          <p:cNvSpPr>
            <a:spLocks xmlns:a="http://schemas.openxmlformats.org/drawingml/2006/main" noGrp="1"/>
          </p:cNvSpPr>
          <p:nvPr/>
        </p:nvSpPr>
        <p:spPr>
          <a:xfrm xmlns:a="http://schemas.openxmlformats.org/drawingml/2006/main">
            <a:off x="609600" y="15240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2B46"/>
                </a:solidFill>
                <a:latin typeface="DejaVu Sans"/>
                <a:ea typeface="DejaVu Sans"/>
                <a:cs typeface="DejaVu Sans"/>
              </a:defRPr>
            </a:defPPr>
          </a:lstStyle>
          <a:p xmlns:a="http://schemas.openxmlformats.org/drawingml/2006/main">
            <a:pPr algn="l">
              <a:defRPr sz="2325" b="1">
                <a:solidFill>
                  <a:srgbClr val="142B46"/>
                </a:solidFill>
                <a:latin typeface="DejaVu Sans"/>
                <a:ea typeface="DejaVu Sans"/>
                <a:cs typeface="DejaVu Sans"/>
              </a:defRPr>
            </a:pPr>
            <a:r>
              <a:rPr sz="2325" b="1">
                <a:solidFill>
                  <a:srgbClr val="142B46"/>
                </a:solidFill>
                <a:latin typeface="DejaVu Sans"/>
                <a:ea typeface="DejaVu Sans"/>
                <a:cs typeface="DejaVu Sans"/>
              </a:rPr>
              <a:t>Показ в браузере</a:t>
            </a:r>
          </a:p>
        </p:txBody>
      </p:sp>
      <p:sp>
        <p:nvSpPr>
          <p:cNvPr id="4" name="">
            <a:extLst xmlns:a="http://schemas.openxmlformats.org/drawingml/2006/main">
              <a:ext uri="{FF2B5EF4-FFF2-40B4-BE49-F238E27FC236}">
                <a16:creationId xmlns:a16="http://schemas.microsoft.com/office/drawing/2014/main" id="{1658DC16-EE71-46CC-952F-29A2ED71A1DB}"/>
              </a:ext>
            </a:extLst>
          </p:cNvPr>
          <p:cNvSpPr>
            <a:spLocks xmlns:a="http://schemas.openxmlformats.org/drawingml/2006/main" noGrp="1"/>
          </p:cNvSpPr>
          <p:nvPr/>
        </p:nvSpPr>
        <p:spPr>
          <a:xfrm xmlns:a="http://schemas.openxmlformats.org/drawingml/2006/main">
            <a:off x="609600" y="2333625"/>
            <a:ext cx="5286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F6173"/>
                </a:solidFill>
                <a:latin typeface="DejaVu Sans"/>
                <a:ea typeface="DejaVu Sans"/>
                <a:cs typeface="DejaVu Sans"/>
              </a:defRPr>
            </a:defPPr>
          </a:lstStyle>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1  PDF и новая вакансия</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2  Цитата и снимок источника</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3  Проверка короткого списка</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4  Утверждение и CSV</a:t>
            </a:r>
          </a:p>
        </p:txBody>
      </p:sp>
      <p:sp>
        <p:nvSpPr>
          <p:cNvPr id="5" name="">
            <a:extLst xmlns:a="http://schemas.openxmlformats.org/drawingml/2006/main">
              <a:ext uri="{FF2B5EF4-FFF2-40B4-BE49-F238E27FC236}">
                <a16:creationId xmlns:a16="http://schemas.microsoft.com/office/drawing/2014/main" id="{29F8602D-78B0-442C-9A41-05F62068848B}"/>
              </a:ext>
            </a:extLst>
          </p:cNvPr>
          <p:cNvSpPr>
            <a:spLocks xmlns:a="http://schemas.openxmlformats.org/drawingml/2006/main" noGrp="1"/>
          </p:cNvSpPr>
          <p:nvPr/>
        </p:nvSpPr>
        <p:spPr>
          <a:xfrm xmlns:a="http://schemas.openxmlformats.org/drawingml/2006/main">
            <a:off x="6762750" y="15240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2B46"/>
                </a:solidFill>
                <a:latin typeface="DejaVu Sans"/>
                <a:ea typeface="DejaVu Sans"/>
                <a:cs typeface="DejaVu Sans"/>
              </a:defRPr>
            </a:defPPr>
          </a:lstStyle>
          <a:p xmlns:a="http://schemas.openxmlformats.org/drawingml/2006/main">
            <a:pPr algn="l">
              <a:defRPr sz="2325" b="1">
                <a:solidFill>
                  <a:srgbClr val="142B46"/>
                </a:solidFill>
                <a:latin typeface="DejaVu Sans"/>
                <a:ea typeface="DejaVu Sans"/>
                <a:cs typeface="DejaVu Sans"/>
              </a:defRPr>
            </a:pPr>
            <a:r>
              <a:rPr sz="2325" b="1">
                <a:solidFill>
                  <a:srgbClr val="142B46"/>
                </a:solidFill>
                <a:latin typeface="DejaVu Sans"/>
                <a:ea typeface="DejaVu Sans"/>
                <a:cs typeface="DejaVu Sans"/>
              </a:rPr>
              <a:t>Границы</a:t>
            </a:r>
          </a:p>
        </p:txBody>
      </p:sp>
      <p:sp>
        <p:nvSpPr>
          <p:cNvPr id="6" name="">
            <a:extLst xmlns:a="http://schemas.openxmlformats.org/drawingml/2006/main">
              <a:ext uri="{FF2B5EF4-FFF2-40B4-BE49-F238E27FC236}">
                <a16:creationId xmlns:a16="http://schemas.microsoft.com/office/drawing/2014/main" id="{51D172FA-60A3-41A4-9EB8-6EBF76A18191}"/>
              </a:ext>
            </a:extLst>
          </p:cNvPr>
          <p:cNvSpPr>
            <a:spLocks xmlns:a="http://schemas.openxmlformats.org/drawingml/2006/main" noGrp="1"/>
          </p:cNvSpPr>
          <p:nvPr/>
        </p:nvSpPr>
        <p:spPr>
          <a:xfrm xmlns:a="http://schemas.openxmlformats.org/drawingml/2006/main">
            <a:off x="6762750" y="233362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F6173"/>
                </a:solidFill>
                <a:latin typeface="DejaVu Sans"/>
                <a:ea typeface="DejaVu Sans"/>
                <a:cs typeface="DejaVu Sans"/>
              </a:defRPr>
            </a:defPPr>
          </a:lstStyle>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Текстовый слой PDF, без OCR</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Один слот генерации</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OS-песочница в развитии</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Реальная ATS требует адаптера</a:t>
            </a:r>
          </a:p>
          <a:p xmlns:a="http://schemas.openxmlformats.org/drawingml/2006/main">
            <a:pPr algn="l">
              <a:defRPr sz="2175" b="0">
                <a:solidFill>
                  <a:srgbClr val="4F6173"/>
                </a:solidFill>
                <a:latin typeface="DejaVu Sans"/>
                <a:ea typeface="DejaVu Sans"/>
                <a:cs typeface="DejaVu Sans"/>
              </a:defRPr>
            </a:pPr>
            <a:r>
              <a:rPr sz="2175" b="0">
                <a:solidFill>
                  <a:srgbClr val="4F6173"/>
                </a:solidFill>
                <a:latin typeface="DejaVu Sans"/>
                <a:ea typeface="DejaVu Sans"/>
                <a:cs typeface="DejaVu Sans"/>
              </a:rPr>
              <a:t>OOM не воспроизводили</a:t>
            </a:r>
          </a:p>
        </p:txBody>
      </p:sp>
      <p:sp>
        <p:nvSpPr>
          <p:cNvPr id="7" name="">
            <a:extLst xmlns:a="http://schemas.openxmlformats.org/drawingml/2006/main">
              <a:ext uri="{FF2B5EF4-FFF2-40B4-BE49-F238E27FC236}">
                <a16:creationId xmlns:a16="http://schemas.microsoft.com/office/drawing/2014/main" id="{C57B60E3-F3AA-4F87-92A2-7E2F4DE133C4}"/>
              </a:ext>
            </a:extLst>
          </p:cNvPr>
          <p:cNvSpPr>
            <a:spLocks xmlns:a="http://schemas.openxmlformats.org/drawingml/2006/main" noGrp="1"/>
          </p:cNvSpPr>
          <p:nvPr/>
        </p:nvSpPr>
        <p:spPr>
          <a:xfrm xmlns:a="http://schemas.openxmlformats.org/drawingml/2006/main">
            <a:off x="609600" y="5238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464AB"/>
                </a:solidFill>
                <a:latin typeface="DejaVu Sans"/>
                <a:ea typeface="DejaVu Sans"/>
                <a:cs typeface="DejaVu Sans"/>
              </a:defRPr>
            </a:defPPr>
          </a:lstStyle>
          <a:p xmlns:a="http://schemas.openxmlformats.org/drawingml/2006/main">
            <a:pPr algn="l">
              <a:defRPr sz="2025" b="1">
                <a:solidFill>
                  <a:srgbClr val="2464AB"/>
                </a:solidFill>
                <a:latin typeface="DejaVu Sans"/>
                <a:ea typeface="DejaVu Sans"/>
                <a:cs typeface="DejaVu Sans"/>
              </a:defRPr>
            </a:pPr>
            <a:r>
              <a:rPr sz="2025" b="1">
                <a:solidFill>
                  <a:srgbClr val="2464AB"/>
                </a:solidFill>
                <a:latin typeface="DejaVu Sans"/>
                <a:ea typeface="DejaVu Sans"/>
                <a:cs typeface="DejaVu Sans"/>
              </a:rPr>
              <a:t>Первое GPU-задание после рестарта: 20,611 с до waiting</a:t>
            </a:r>
          </a:p>
        </p:txBody>
      </p:sp>
      <p:sp>
        <p:nvSpPr>
          <p:cNvPr id="8" name="">
            <a:extLst xmlns:a="http://schemas.openxmlformats.org/drawingml/2006/main">
              <a:ext uri="{FF2B5EF4-FFF2-40B4-BE49-F238E27FC236}">
                <a16:creationId xmlns:a16="http://schemas.microsoft.com/office/drawing/2014/main" id="{13CB1FA6-88CE-4A49-A5BE-0F7A05A1F989}"/>
              </a:ext>
            </a:extLst>
          </p:cNvPr>
          <p:cNvSpPr>
            <a:spLocks xmlns:a="http://schemas.openxmlformats.org/drawingml/2006/main" noGrp="1"/>
          </p:cNvSpPr>
          <p:nvPr/>
        </p:nvSpPr>
        <p:spPr>
          <a:xfrm xmlns:a="http://schemas.openxmlformats.org/drawingml/2006/main">
            <a:off x="609600" y="57626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F6173"/>
                </a:solidFill>
                <a:latin typeface="DejaVu Sans"/>
                <a:ea typeface="DejaVu Sans"/>
                <a:cs typeface="DejaVu Sans"/>
              </a:defRPr>
            </a:defPPr>
          </a:lstStyle>
          <a:p xmlns:a="http://schemas.openxmlformats.org/drawingml/2006/main">
            <a:pPr algn="l">
              <a:defRPr sz="1800" b="0">
                <a:solidFill>
                  <a:srgbClr val="4F6173"/>
                </a:solidFill>
                <a:latin typeface="DejaVu Sans"/>
                <a:ea typeface="DejaVu Sans"/>
                <a:cs typeface="DejaVu Sans"/>
              </a:defRPr>
            </a:pPr>
            <a:r>
              <a:rPr sz="1800" b="0">
                <a:solidFill>
                  <a:srgbClr val="4F6173"/>
                </a:solidFill>
                <a:latin typeface="DejaVu Sans"/>
                <a:ea typeface="DejaVu Sans"/>
                <a:cs typeface="DejaVu Sans"/>
              </a:rPr>
              <a:t>11 PDF разобраны до таймера, 8 карточек с вопросами, 2 подсказки</a:t>
            </a:r>
          </a:p>
        </p:txBody>
      </p:sp>
    </p:spTree>
    <p:extLst>
      <p:ext uri="{BB962C8B-B14F-4D97-AF65-F5344CB8AC3E}">
        <p14:creationId xmlns:p14="http://schemas.microsoft.com/office/powerpoint/2010/main" val="1780616094"/>
      </p:ext>
    </p:extLst>
  </p:cSld>
</p:sld>
</file>

<file path=ppt/theme/theme1.xml><?xml version="1.0" encoding="utf-8"?>
<a:theme xmlns:a="http://schemas.openxmlformats.org/drawingml/2006/main" name="HRScreening">
  <a:themeElements>
    <a:clrScheme name="HRScreening">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RScreening">
      <a:majorFont>
        <a:latin typeface="Aptos"/>
        <a:ea typeface=""/>
        <a:cs typeface=""/>
      </a:majorFont>
      <a:minorFont>
        <a:latin typeface="Aptos"/>
        <a:ea typeface=""/>
        <a:cs typeface=""/>
      </a:minorFont>
    </a:fontScheme>
    <a:fmtScheme name="HRScree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HR Screening</ap:Application>
  <ap:PresentationFormat>16:9</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Команда проекта</dc:creator>
  <cp:lastModifiedBy>Команда проекта</cp:lastModifiedBy>
  <dc:title>Автоматический HR-скрининг</dc:title>
  <dcterms:created xsi:type="dcterms:W3CDTF">2026-10-14T21:23:32.8550000Z</dcterms:created>
  <dcterms:modified xsi:type="dcterms:W3CDTF">2026-10-14T21:23:32.8550000Z</dcterms:modified>
</cp:coreProperties>
</file>